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1ce59b2a54cd2" /><Relationship Type="http://schemas.openxmlformats.org/officeDocument/2006/relationships/extended-properties" Target="/docProps/app.xml" Id="R664e2d3227ad448e" /><Relationship Type="http://schemas.openxmlformats.org/officeDocument/2006/relationships/officeDocument" Target="/ppt/presentation.xml" Id="Ra8fd16fa8a3e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4a76a80c64af9"/>
  </p:sldMasterIdLst>
  <p:notesMasterIdLst>
    <p:notesMasterId xmlns:r="http://schemas.openxmlformats.org/officeDocument/2006/relationships" r:id="R29c84d7f6e3546a7"/>
  </p:notesMasterIdLst>
  <p:sldIdLst>
    <p:sldId xmlns:r="http://schemas.openxmlformats.org/officeDocument/2006/relationships" id="256" r:id="R692fdd1590024010"/>
    <p:sldId xmlns:r="http://schemas.openxmlformats.org/officeDocument/2006/relationships" id="257" r:id="R75b48d5fbd02426a"/>
    <p:sldId xmlns:r="http://schemas.openxmlformats.org/officeDocument/2006/relationships" id="258" r:id="Rdd48dd2b648547d2"/>
    <p:sldId xmlns:r="http://schemas.openxmlformats.org/officeDocument/2006/relationships" id="259" r:id="R1cc39da22ea344e5"/>
    <p:sldId xmlns:r="http://schemas.openxmlformats.org/officeDocument/2006/relationships" id="260" r:id="R59bc403ddcfb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b730821704bda" /><Relationship Type="http://schemas.openxmlformats.org/officeDocument/2006/relationships/slideMaster" Target="/ppt/slideMasters/slideMaster1.xml" Id="Ra314a76a80c64af9" /><Relationship Type="http://schemas.openxmlformats.org/officeDocument/2006/relationships/notesMaster" Target="/ppt/notesMasters/notesMaster1.xml" Id="R29c84d7f6e3546a7" /><Relationship Type="http://schemas.openxmlformats.org/officeDocument/2006/relationships/presProps" Target="/ppt/presProps.xml" Id="Rb702ab1d2c5f4866" /><Relationship Type="http://schemas.openxmlformats.org/officeDocument/2006/relationships/tableStyles" Target="/ppt/tableStyles.xml" Id="Ra064e4b08fb84cd0" /><Relationship Type="http://schemas.openxmlformats.org/officeDocument/2006/relationships/slide" Target="/ppt/slides/slide1.xml" Id="R692fdd1590024010" /><Relationship Type="http://schemas.openxmlformats.org/officeDocument/2006/relationships/slide" Target="/ppt/slides/slide2.xml" Id="R75b48d5fbd02426a" /><Relationship Type="http://schemas.openxmlformats.org/officeDocument/2006/relationships/slide" Target="/ppt/slides/slide3.xml" Id="Rdd48dd2b648547d2" /><Relationship Type="http://schemas.openxmlformats.org/officeDocument/2006/relationships/slide" Target="/ppt/slides/slide4.xml" Id="R1cc39da22ea344e5" /><Relationship Type="http://schemas.openxmlformats.org/officeDocument/2006/relationships/slide" Target="/ppt/slides/slide5.xml" Id="R59bc403ddcfb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273ee247e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87883c2fed46d7" /><Relationship Type="http://schemas.openxmlformats.org/officeDocument/2006/relationships/notesMaster" Target="/ppt/notesMasters/notesMaster1.xml" Id="Ree3faf6603a145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05591b1b8a4f69" /><Relationship Type="http://schemas.openxmlformats.org/officeDocument/2006/relationships/notesMaster" Target="/ppt/notesMasters/notesMaster1.xml" Id="Rdceef2223ae6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647d8c308e4f3a" /><Relationship Type="http://schemas.openxmlformats.org/officeDocument/2006/relationships/notesMaster" Target="/ppt/notesMasters/notesMaster1.xml" Id="R75d5dbe20d09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97e2c59124735" /><Relationship Type="http://schemas.openxmlformats.org/officeDocument/2006/relationships/notesMaster" Target="/ppt/notesMasters/notesMaster1.xml" Id="Rb748f24ca41548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783aebfba4ce4" /><Relationship Type="http://schemas.openxmlformats.org/officeDocument/2006/relationships/notesMaster" Target="/ppt/notesMasters/notesMaster1.xml" Id="Rf987b5670c18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ML1 stakeholder_readout.md</a:t>
            </a:r>
          </a:p>
          <a:p xmlns:a="http://schemas.openxmlformats.org/drawingml/2006/main">
            <a:r>
              <a:t>- ML1 ml1_executive_summary.png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ML1 reference_results.json: test capacity and responder counts</a:t>
            </a:r>
          </a:p>
          <a:p xmlns:a="http://schemas.openxmlformats.org/drawingml/2006/main">
            <a:r>
              <a:t>- ML1 stakeholder_readout.md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ML1 reference_results.json: selected model test metrics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ML1 model_card.md: intended use, limitations, and approval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ML1 monitoring_plan.md</a:t>
            </a:r>
          </a:p>
          <a:p xmlns:a="http://schemas.openxmlformats.org/drawingml/2006/main">
            <a:r>
              <a:t>- ML1 stakeholder_readout.md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425e79b07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cd7da04a34e1c" /><Relationship Type="http://schemas.openxmlformats.org/officeDocument/2006/relationships/slideLayout" Target="/ppt/slideLayouts/slideLayout1.xml" Id="Rac1c3311897644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1c3311897644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6234d4b941fe" /><Relationship Type="http://schemas.openxmlformats.org/officeDocument/2006/relationships/image" Target="/ppt/media/image.png" Id="Rb28454baeedd4111" /><Relationship Type="http://schemas.openxmlformats.org/officeDocument/2006/relationships/notesSlide" Target="/ppt/notesSlides/notesSlide1.xml" Id="R126cbdc411ce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0982d3e7436b" /><Relationship Type="http://schemas.openxmlformats.org/officeDocument/2006/relationships/chart" Target="/ppt/slides/charts/chart1.xml" Id="Rf7a5b0ed4e0947a1" /><Relationship Type="http://schemas.openxmlformats.org/officeDocument/2006/relationships/notesSlide" Target="/ppt/notesSlides/notesSlide2.xml" Id="R69f9b101509b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9894a1e324dcd" /><Relationship Type="http://schemas.openxmlformats.org/officeDocument/2006/relationships/notesSlide" Target="/ppt/notesSlides/notesSlide3.xml" Id="R2f76ab27f0cd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4296ee95a4d88" /><Relationship Type="http://schemas.openxmlformats.org/officeDocument/2006/relationships/notesSlide" Target="/ppt/notesSlides/notesSlide4.xml" Id="R3b45098424d144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8b5c6dd894f79" /><Relationship Type="http://schemas.openxmlformats.org/officeDocument/2006/relationships/notesSlide" Target="/ppt/notesSlides/notesSlide5.xml" Id="Rfac51eca2bfb4a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Responders captured</c:v>
          </c:tx>
          <c:spPr>
            <a:solidFill xmlns:a="http://schemas.openxmlformats.org/drawingml/2006/main">
              <a:srgbClr val="20639B"/>
            </a:solidFill>
          </c:spPr>
          <c:cat>
            <c:strLit>
              <c:ptCount val="2"/>
              <c:pt idx="0">
                <c:v>Selected model</c:v>
              </c:pt>
              <c:pt idx="1">
                <c:v>Current rule</c:v>
              </c:pt>
            </c:strLit>
          </c:cat>
          <c:val>
            <c:numLit>
              <c:formatCode>General</c:formatCode>
              <c:ptCount val="2"/>
              <c:pt idx="0">
                <c:v>439</c:v>
              </c:pt>
              <c:pt idx="1">
                <c:v>392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322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23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273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FC3A54C-3EE1-4897-A397-92E664D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62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C1BA4C6-3C36-4F2E-8FDB-1107C421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ML1 • SUPERVISED LEARNING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A3CFD47-EA81-405D-818C-CA48589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08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Campaign Response</a:t>
            </a:r>
          </a:p>
          <a:p xmlns:a="http://schemas.openxmlformats.org/drawingml/2006/main">
            <a:pPr algn="l">
              <a:defRPr sz="40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Propensity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E542332-3D1A-46E6-B273-9B899E4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Who should receive limited outreach capacity?</a:t>
            </a:r>
          </a:p>
        </p:txBody>
      </p:sp>
      <p:sp>
        <p:nvSpPr>
          <p:cNvPr id="5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5324D3EC-9442-4035-9980-4CE86E2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Executive decision readout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2C6FB471-C161-454E-85E4-3CBC130F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Synthetic portfolio case • August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454baeedd4111"/>
          <a:stretch xmlns:a="http://schemas.openxmlformats.org/drawingml/2006/main"/>
        </p:blipFill>
        <p:spPr>
          <a:xfrm xmlns:a="http://schemas.openxmlformats.org/drawingml/2006/main">
            <a:off x="6000750" y="1533696"/>
            <a:ext cx="5619750" cy="36477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29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">
            <a:extLst xmlns:a="http://schemas.openxmlformats.org/drawingml/2006/main">
              <a:ext uri="{FF2B5EF4-FFF2-40B4-BE49-F238E27FC236}">
                <a16:creationId xmlns:a16="http://schemas.microsoft.com/office/drawing/2014/main" id="{927DF3F9-ACBE-4B47-A7EC-9750D98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6E80E6C-EF22-439C-9027-F710CC4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model finds 47 more responders at the same contact limit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FD19DB65-D39F-4B2B-BE71-03196CC1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8D5538F-196B-4DB4-A57E-9C304D7F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000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a5b0ed4e0947a1"/>
          </a:graphicData>
        </a:graphic>
      </p:graphicFrame>
      <p:sp>
        <p:nvSpPr>
          <p:cNvPr id="6" name="plus-47">
            <a:extLst xmlns:a="http://schemas.openxmlformats.org/drawingml/2006/main">
              <a:ext uri="{FF2B5EF4-FFF2-40B4-BE49-F238E27FC236}">
                <a16:creationId xmlns:a16="http://schemas.microsoft.com/office/drawing/2014/main" id="{309CDCFD-0353-4B92-AD57-98BB243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+47</a:t>
            </a:r>
          </a:p>
        </p:txBody>
      </p:sp>
      <p:sp>
        <p:nvSpPr>
          <p:cNvPr id="7" name="plus-label">
            <a:extLst xmlns:a="http://schemas.openxmlformats.org/drawingml/2006/main">
              <a:ext uri="{FF2B5EF4-FFF2-40B4-BE49-F238E27FC236}">
                <a16:creationId xmlns:a16="http://schemas.microsoft.com/office/drawing/2014/main" id="{DD3D3483-6C1E-4BC6-AB31-654581FF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24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additional responders</a:t>
            </a:r>
          </a:p>
        </p:txBody>
      </p:sp>
      <p:sp>
        <p:nvSpPr>
          <p:cNvPr id="8" name="plus-body">
            <a:extLst xmlns:a="http://schemas.openxmlformats.org/drawingml/2006/main">
              <a:ext uri="{FF2B5EF4-FFF2-40B4-BE49-F238E27FC236}">
                <a16:creationId xmlns:a16="http://schemas.microsoft.com/office/drawing/2014/main" id="{B08A98CA-6591-4779-B11B-A506E82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361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 12% increase in captured responders without expanding the 2,399-customer contact capacity.</a:t>
            </a:r>
          </a:p>
        </p:txBody>
      </p:sp>
      <p:sp>
        <p:nvSpPr>
          <p:cNvPr id="9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F78B6ECA-C43C-4BE6-AEA9-BB903AB3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95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Recommendation: proceed to shadow scoring and a randomized pilot—not automatic rollout.</a:t>
            </a:r>
          </a:p>
        </p:txBody>
      </p:sp>
    </p:spTree>
    <p:extLst>
      <p:ext uri="{BB962C8B-B14F-4D97-AF65-F5344CB8AC3E}">
        <p14:creationId xmlns:p14="http://schemas.microsoft.com/office/powerpoint/2010/main" val="14243190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A1F67A9F-4B36-4B36-8CF5-796A0D6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89E79DD-C055-4A10-AB9D-1EF34ED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Performance improves the constrained marketing decision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76FC589-2657-47E7-AE81-4896C6D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3D79CA6-C4F0-420B-B331-21D080A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metric-intro">
            <a:extLst xmlns:a="http://schemas.openxmlformats.org/drawingml/2006/main">
              <a:ext uri="{FF2B5EF4-FFF2-40B4-BE49-F238E27FC236}">
                <a16:creationId xmlns:a16="http://schemas.microsoft.com/office/drawing/2014/main" id="{9045E3C0-390C-4D38-A16F-BAD3A352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The model is evaluated where Marketing must act: within the available contact capacity.</a:t>
            </a:r>
          </a:p>
        </p:txBody>
      </p:sp>
      <p:sp>
        <p:nvSpPr>
          <p:cNvPr id="6" name="metric-Precision at capacity">
            <a:extLst xmlns:a="http://schemas.openxmlformats.org/drawingml/2006/main">
              <a:ext uri="{FF2B5EF4-FFF2-40B4-BE49-F238E27FC236}">
                <a16:creationId xmlns:a16="http://schemas.microsoft.com/office/drawing/2014/main" id="{3602303F-DE9C-45E6-97C6-BA2A6969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accent-Precision at capacity">
            <a:extLst xmlns:a="http://schemas.openxmlformats.org/drawingml/2006/main">
              <a:ext uri="{FF2B5EF4-FFF2-40B4-BE49-F238E27FC236}">
                <a16:creationId xmlns:a16="http://schemas.microsoft.com/office/drawing/2014/main" id="{ABD69823-8369-412B-896B-71D4672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Precision at capacity">
            <a:extLst xmlns:a="http://schemas.openxmlformats.org/drawingml/2006/main">
              <a:ext uri="{FF2B5EF4-FFF2-40B4-BE49-F238E27FC236}">
                <a16:creationId xmlns:a16="http://schemas.microsoft.com/office/drawing/2014/main" id="{EBD7DE55-1A4C-498B-8C47-00E27E9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18.30%</a:t>
            </a:r>
          </a:p>
        </p:txBody>
      </p:sp>
      <p:sp>
        <p:nvSpPr>
          <p:cNvPr id="9" name="metric-label-Precision at capacity">
            <a:extLst xmlns:a="http://schemas.openxmlformats.org/drawingml/2006/main">
              <a:ext uri="{FF2B5EF4-FFF2-40B4-BE49-F238E27FC236}">
                <a16:creationId xmlns:a16="http://schemas.microsoft.com/office/drawing/2014/main" id="{EF8F4D2A-08F2-4C97-8CA7-139DF62F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Precision at capacity</a:t>
            </a:r>
          </a:p>
        </p:txBody>
      </p:sp>
      <p:sp>
        <p:nvSpPr>
          <p:cNvPr id="10" name="metric-detail-Precision at capacity">
            <a:extLst xmlns:a="http://schemas.openxmlformats.org/drawingml/2006/main">
              <a:ext uri="{FF2B5EF4-FFF2-40B4-BE49-F238E27FC236}">
                <a16:creationId xmlns:a16="http://schemas.microsoft.com/office/drawing/2014/main" id="{AC3F6502-582B-4125-9641-1ACDA97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About 18 of every 100 contacted customers respond.</a:t>
            </a:r>
          </a:p>
        </p:txBody>
      </p:sp>
      <p:sp>
        <p:nvSpPr>
          <p:cNvPr id="11" name="metric-Responder recall">
            <a:extLst xmlns:a="http://schemas.openxmlformats.org/drawingml/2006/main">
              <a:ext uri="{FF2B5EF4-FFF2-40B4-BE49-F238E27FC236}">
                <a16:creationId xmlns:a16="http://schemas.microsoft.com/office/drawing/2014/main" id="{EC78CA9A-FAA4-42A0-B520-EFE7DC0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accent-Responder recall">
            <a:extLst xmlns:a="http://schemas.openxmlformats.org/drawingml/2006/main">
              <a:ext uri="{FF2B5EF4-FFF2-40B4-BE49-F238E27FC236}">
                <a16:creationId xmlns:a16="http://schemas.microsoft.com/office/drawing/2014/main" id="{2B12813A-240A-43AB-8901-18977A7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E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Responder recall">
            <a:extLst xmlns:a="http://schemas.openxmlformats.org/drawingml/2006/main">
              <a:ext uri="{FF2B5EF4-FFF2-40B4-BE49-F238E27FC236}">
                <a16:creationId xmlns:a16="http://schemas.microsoft.com/office/drawing/2014/main" id="{629C6F5D-BB5A-450A-A446-1396C07F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45.68%</a:t>
            </a:r>
          </a:p>
        </p:txBody>
      </p:sp>
      <p:sp>
        <p:nvSpPr>
          <p:cNvPr id="14" name="metric-label-Responder recall">
            <a:extLst xmlns:a="http://schemas.openxmlformats.org/drawingml/2006/main">
              <a:ext uri="{FF2B5EF4-FFF2-40B4-BE49-F238E27FC236}">
                <a16:creationId xmlns:a16="http://schemas.microsoft.com/office/drawing/2014/main" id="{02569EC9-548D-48DA-8953-F3054DDF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Responder recall</a:t>
            </a:r>
          </a:p>
        </p:txBody>
      </p:sp>
      <p:sp>
        <p:nvSpPr>
          <p:cNvPr id="15" name="metric-detail-Responder recall">
            <a:extLst xmlns:a="http://schemas.openxmlformats.org/drawingml/2006/main">
              <a:ext uri="{FF2B5EF4-FFF2-40B4-BE49-F238E27FC236}">
                <a16:creationId xmlns:a16="http://schemas.microsoft.com/office/drawing/2014/main" id="{CC2188DE-44FC-481A-BF29-0659458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The shortlist captures nearly half of all future responders.</a:t>
            </a:r>
          </a:p>
        </p:txBody>
      </p:sp>
      <p:sp>
        <p:nvSpPr>
          <p:cNvPr id="16" name="metric-Lift">
            <a:extLst xmlns:a="http://schemas.openxmlformats.org/drawingml/2006/main">
              <a:ext uri="{FF2B5EF4-FFF2-40B4-BE49-F238E27FC236}">
                <a16:creationId xmlns:a16="http://schemas.microsoft.com/office/drawing/2014/main" id="{6D4061FE-DE00-40D0-8309-449AF27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accent-Lift">
            <a:extLst xmlns:a="http://schemas.openxmlformats.org/drawingml/2006/main">
              <a:ext uri="{FF2B5EF4-FFF2-40B4-BE49-F238E27FC236}">
                <a16:creationId xmlns:a16="http://schemas.microsoft.com/office/drawing/2014/main" id="{35CA826B-605F-43DA-9E81-EE12174E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value-Lift">
            <a:extLst xmlns:a="http://schemas.openxmlformats.org/drawingml/2006/main">
              <a:ext uri="{FF2B5EF4-FFF2-40B4-BE49-F238E27FC236}">
                <a16:creationId xmlns:a16="http://schemas.microsoft.com/office/drawing/2014/main" id="{D290223F-F674-407B-A6D5-0263F51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2.28×</a:t>
            </a:r>
          </a:p>
        </p:txBody>
      </p:sp>
      <p:sp>
        <p:nvSpPr>
          <p:cNvPr id="19" name="metric-label-Lift">
            <a:extLst xmlns:a="http://schemas.openxmlformats.org/drawingml/2006/main">
              <a:ext uri="{FF2B5EF4-FFF2-40B4-BE49-F238E27FC236}">
                <a16:creationId xmlns:a16="http://schemas.microsoft.com/office/drawing/2014/main" id="{259BFC6A-3CD3-4C41-A7C5-6460CCA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Lift</a:t>
            </a:r>
          </a:p>
        </p:txBody>
      </p:sp>
      <p:sp>
        <p:nvSpPr>
          <p:cNvPr id="20" name="metric-detail-Lift">
            <a:extLst xmlns:a="http://schemas.openxmlformats.org/drawingml/2006/main">
              <a:ext uri="{FF2B5EF4-FFF2-40B4-BE49-F238E27FC236}">
                <a16:creationId xmlns:a16="http://schemas.microsoft.com/office/drawing/2014/main" id="{356E4035-C5AF-41CB-9DEF-DFA2DEA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The shortlist responds at more than twice the population rate.</a:t>
            </a:r>
          </a:p>
        </p:txBody>
      </p:sp>
    </p:spTree>
    <p:extLst>
      <p:ext uri="{BB962C8B-B14F-4D97-AF65-F5344CB8AC3E}">
        <p14:creationId xmlns:p14="http://schemas.microsoft.com/office/powerpoint/2010/main" val="1129520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4">
            <a:extLst xmlns:a="http://schemas.openxmlformats.org/drawingml/2006/main">
              <a:ext uri="{FF2B5EF4-FFF2-40B4-BE49-F238E27FC236}">
                <a16:creationId xmlns:a16="http://schemas.microsoft.com/office/drawing/2014/main" id="{93CE9CE8-1BEE-40EF-88A7-F37BD9D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3EC6AC6-DFE4-4B45-BCE9-3138793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The score ranks likely responders—it does not prove incrementality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4C56EBE-1DC6-4E85-A44E-94BD1B1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61C87E2-DB85-4A77-9016-66CBB74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C63D7B60-7EDC-4D6F-B184-B98E1EDF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What the model supports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BD9DBF73-6562-4B58-A280-081C4CA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857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Rank consented customers within a fixed capacity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Compare expected response and economics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Prepare a transparent, versioned audience for review</a:t>
            </a:r>
          </a:p>
        </p:txBody>
      </p:sp>
      <p:sp>
        <p:nvSpPr>
          <p:cNvPr id="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E7478852-BDF7-40BE-A3D6-B2F6DEF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76612E1D-E98E-4D12-861D-4F6FF4D1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What still requires evidence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454B7363-FC0F-42F0-BB82-A23F404F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Whether outreach causes incremental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Real-world performance beyond synthetic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Customer-experience and segment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Calibration after policy and market changes</a:t>
            </a:r>
          </a:p>
        </p:txBody>
      </p:sp>
      <p:sp>
        <p:nvSpPr>
          <p:cNvPr id="10" name="bottom-boundary">
            <a:extLst xmlns:a="http://schemas.openxmlformats.org/drawingml/2006/main">
              <a:ext uri="{FF2B5EF4-FFF2-40B4-BE49-F238E27FC236}">
                <a16:creationId xmlns:a16="http://schemas.microsoft.com/office/drawing/2014/main" id="{16E6BF68-D321-4C69-8183-D2172FE4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Human approval, consent, suppression, frequency caps, and campaign execution remain outside the model.</a:t>
            </a:r>
          </a:p>
        </p:txBody>
      </p:sp>
    </p:spTree>
    <p:extLst>
      <p:ext uri="{BB962C8B-B14F-4D97-AF65-F5344CB8AC3E}">
        <p14:creationId xmlns:p14="http://schemas.microsoft.com/office/powerpoint/2010/main" val="16956769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5">
            <a:extLst xmlns:a="http://schemas.openxmlformats.org/drawingml/2006/main">
              <a:ext uri="{FF2B5EF4-FFF2-40B4-BE49-F238E27FC236}">
                <a16:creationId xmlns:a16="http://schemas.microsoft.com/office/drawing/2014/main" id="{963019A2-7E29-4F7E-923B-E6971A1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CF890D1-B4D3-4653-A014-0248624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Scale only after the pilot demonstrates incremental value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FAA30625-75A2-4710-9029-BAE2730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FA31F35-0537-49D3-821E-40D8CEF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process-line-5">
            <a:extLst xmlns:a="http://schemas.openxmlformats.org/drawingml/2006/main">
              <a:ext uri="{FF2B5EF4-FFF2-40B4-BE49-F238E27FC236}">
                <a16:creationId xmlns:a16="http://schemas.microsoft.com/office/drawing/2014/main" id="{46E0FC07-11EC-41FB-AEE9-0C0F658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circle-5-0">
            <a:extLst xmlns:a="http://schemas.openxmlformats.org/drawingml/2006/main">
              <a:ext uri="{FF2B5EF4-FFF2-40B4-BE49-F238E27FC236}">
                <a16:creationId xmlns:a16="http://schemas.microsoft.com/office/drawing/2014/main" id="{5D1A36CF-EE6F-4D84-A4BF-4D63717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ber-5-0">
            <a:extLst xmlns:a="http://schemas.openxmlformats.org/drawingml/2006/main">
              <a:ext uri="{FF2B5EF4-FFF2-40B4-BE49-F238E27FC236}">
                <a16:creationId xmlns:a16="http://schemas.microsoft.com/office/drawing/2014/main" id="{31A63924-272C-47E6-88E0-349FB37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title-5-0">
            <a:extLst xmlns:a="http://schemas.openxmlformats.org/drawingml/2006/main">
              <a:ext uri="{FF2B5EF4-FFF2-40B4-BE49-F238E27FC236}">
                <a16:creationId xmlns:a16="http://schemas.microsoft.com/office/drawing/2014/main" id="{86908E74-D484-4CB7-A076-01F5030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Shadow score</a:t>
            </a:r>
          </a:p>
        </p:txBody>
      </p:sp>
      <p:sp>
        <p:nvSpPr>
          <p:cNvPr id="9" name="step-body-5-0">
            <a:extLst xmlns:a="http://schemas.openxmlformats.org/drawingml/2006/main">
              <a:ext uri="{FF2B5EF4-FFF2-40B4-BE49-F238E27FC236}">
                <a16:creationId xmlns:a16="http://schemas.microsoft.com/office/drawing/2014/main" id="{DF9A5E3A-C05E-459A-A10C-28F26DFA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Run beside the current rule; verify data, timing, and audience controls.</a:t>
            </a:r>
          </a:p>
        </p:txBody>
      </p:sp>
      <p:sp>
        <p:nvSpPr>
          <p:cNvPr id="10" name="step-circle-5-1">
            <a:extLst xmlns:a="http://schemas.openxmlformats.org/drawingml/2006/main">
              <a:ext uri="{FF2B5EF4-FFF2-40B4-BE49-F238E27FC236}">
                <a16:creationId xmlns:a16="http://schemas.microsoft.com/office/drawing/2014/main" id="{ED1CD5C4-8606-4BD5-88A4-C779F20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5-1">
            <a:extLst xmlns:a="http://schemas.openxmlformats.org/drawingml/2006/main">
              <a:ext uri="{FF2B5EF4-FFF2-40B4-BE49-F238E27FC236}">
                <a16:creationId xmlns:a16="http://schemas.microsoft.com/office/drawing/2014/main" id="{5B54CC61-ACF7-4A91-8771-CD5E48B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title-5-1">
            <a:extLst xmlns:a="http://schemas.openxmlformats.org/drawingml/2006/main">
              <a:ext uri="{FF2B5EF4-FFF2-40B4-BE49-F238E27FC236}">
                <a16:creationId xmlns:a16="http://schemas.microsoft.com/office/drawing/2014/main" id="{608829A2-8E96-4CCC-ADB7-DE5AD747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Randomize</a:t>
            </a:r>
          </a:p>
        </p:txBody>
      </p:sp>
      <p:sp>
        <p:nvSpPr>
          <p:cNvPr id="13" name="step-body-5-1">
            <a:extLst xmlns:a="http://schemas.openxmlformats.org/drawingml/2006/main">
              <a:ext uri="{FF2B5EF4-FFF2-40B4-BE49-F238E27FC236}">
                <a16:creationId xmlns:a16="http://schemas.microsoft.com/office/drawing/2014/main" id="{4D644678-B041-4914-9055-5673ED9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Create treatment and holdout groups inside the ranked eligible audience.</a:t>
            </a:r>
          </a:p>
        </p:txBody>
      </p:sp>
      <p:sp>
        <p:nvSpPr>
          <p:cNvPr id="14" name="step-circle-5-2">
            <a:extLst xmlns:a="http://schemas.openxmlformats.org/drawingml/2006/main">
              <a:ext uri="{FF2B5EF4-FFF2-40B4-BE49-F238E27FC236}">
                <a16:creationId xmlns:a16="http://schemas.microsoft.com/office/drawing/2014/main" id="{A5A5F10A-2EC5-469A-8D34-00488A5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5-2">
            <a:extLst xmlns:a="http://schemas.openxmlformats.org/drawingml/2006/main">
              <a:ext uri="{FF2B5EF4-FFF2-40B4-BE49-F238E27FC236}">
                <a16:creationId xmlns:a16="http://schemas.microsoft.com/office/drawing/2014/main" id="{95CC3B50-494B-4DFB-9112-9DA2191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title-5-2">
            <a:extLst xmlns:a="http://schemas.openxmlformats.org/drawingml/2006/main">
              <a:ext uri="{FF2B5EF4-FFF2-40B4-BE49-F238E27FC236}">
                <a16:creationId xmlns:a16="http://schemas.microsoft.com/office/drawing/2014/main" id="{E202216D-51CF-49B0-B3FE-60C4428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step-body-5-2">
            <a:extLst xmlns:a="http://schemas.openxmlformats.org/drawingml/2006/main">
              <a:ext uri="{FF2B5EF4-FFF2-40B4-BE49-F238E27FC236}">
                <a16:creationId xmlns:a16="http://schemas.microsoft.com/office/drawing/2014/main" id="{BECB814F-A43C-4F02-A08D-A3E361C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Track incremental response, margin, opt-outs, and segment outcomes.</a:t>
            </a:r>
          </a:p>
        </p:txBody>
      </p:sp>
      <p:sp>
        <p:nvSpPr>
          <p:cNvPr id="18" name="step-circle-5-3">
            <a:extLst xmlns:a="http://schemas.openxmlformats.org/drawingml/2006/main">
              <a:ext uri="{FF2B5EF4-FFF2-40B4-BE49-F238E27FC236}">
                <a16:creationId xmlns:a16="http://schemas.microsoft.com/office/drawing/2014/main" id="{10D3CAFF-7568-463F-82F7-AC75421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ber-5-3">
            <a:extLst xmlns:a="http://schemas.openxmlformats.org/drawingml/2006/main">
              <a:ext uri="{FF2B5EF4-FFF2-40B4-BE49-F238E27FC236}">
                <a16:creationId xmlns:a16="http://schemas.microsoft.com/office/drawing/2014/main" id="{618C0CA4-54C7-4E0B-83B0-0052BF81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title-5-3">
            <a:extLst xmlns:a="http://schemas.openxmlformats.org/drawingml/2006/main">
              <a:ext uri="{FF2B5EF4-FFF2-40B4-BE49-F238E27FC236}">
                <a16:creationId xmlns:a16="http://schemas.microsoft.com/office/drawing/2014/main" id="{72B3B4A2-899F-48C0-A5A8-57BC093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1" name="step-body-5-3">
            <a:extLst xmlns:a="http://schemas.openxmlformats.org/drawingml/2006/main">
              <a:ext uri="{FF2B5EF4-FFF2-40B4-BE49-F238E27FC236}">
                <a16:creationId xmlns:a16="http://schemas.microsoft.com/office/drawing/2014/main" id="{BD99561D-1385-4473-BF7A-77A8EE9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Scale, revise, or roll back against predeclared decision gates.</a:t>
            </a:r>
          </a:p>
        </p:txBody>
      </p:sp>
      <p:sp>
        <p:nvSpPr>
          <p:cNvPr id="22" name="closing-5">
            <a:extLst xmlns:a="http://schemas.openxmlformats.org/drawingml/2006/main">
              <a:ext uri="{FF2B5EF4-FFF2-40B4-BE49-F238E27FC236}">
                <a16:creationId xmlns:a16="http://schemas.microsoft.com/office/drawing/2014/main" id="{2012054E-A978-4ED4-8E8C-DD33FA02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Decision requested: authorize a controlled pilot—not production automation.</a:t>
            </a:r>
          </a:p>
        </p:txBody>
      </p:sp>
    </p:spTree>
    <p:extLst>
      <p:ext uri="{BB962C8B-B14F-4D97-AF65-F5344CB8AC3E}">
        <p14:creationId xmlns:p14="http://schemas.microsoft.com/office/powerpoint/2010/main" val="878910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2026-09-02T01:18:37.3410000Z</dcterms:created>
  <dcterms:modified xsi:type="dcterms:W3CDTF">2026-09-02T01:18:37.3410000Z</dcterms:modified>
</coreProperties>
</file>