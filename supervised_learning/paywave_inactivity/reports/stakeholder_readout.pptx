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1158e501d541d7" /><Relationship Type="http://schemas.openxmlformats.org/officeDocument/2006/relationships/extended-properties" Target="/docProps/app.xml" Id="R7f6354c943aa4b31" /><Relationship Type="http://schemas.openxmlformats.org/officeDocument/2006/relationships/officeDocument" Target="/ppt/presentation.xml" Id="R8f51d8428ece46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58468a1f0b4afd"/>
  </p:sldMasterIdLst>
  <p:notesMasterIdLst>
    <p:notesMasterId xmlns:r="http://schemas.openxmlformats.org/officeDocument/2006/relationships" r:id="Rab7db50722654aaa"/>
  </p:notesMasterIdLst>
  <p:sldIdLst>
    <p:sldId xmlns:r="http://schemas.openxmlformats.org/officeDocument/2006/relationships" id="256" r:id="Rcbc4f5f5ebbd411c"/>
    <p:sldId xmlns:r="http://schemas.openxmlformats.org/officeDocument/2006/relationships" id="257" r:id="R4274f9b57942466d"/>
    <p:sldId xmlns:r="http://schemas.openxmlformats.org/officeDocument/2006/relationships" id="258" r:id="R6a3534954277414d"/>
    <p:sldId xmlns:r="http://schemas.openxmlformats.org/officeDocument/2006/relationships" id="259" r:id="R80fc0b563fd94d59"/>
    <p:sldId xmlns:r="http://schemas.openxmlformats.org/officeDocument/2006/relationships" id="260" r:id="Rf0b1e1c2aad747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2e15f8bcce41b1" /><Relationship Type="http://schemas.openxmlformats.org/officeDocument/2006/relationships/slideMaster" Target="/ppt/slideMasters/slideMaster1.xml" Id="Ra258468a1f0b4afd" /><Relationship Type="http://schemas.openxmlformats.org/officeDocument/2006/relationships/notesMaster" Target="/ppt/notesMasters/notesMaster1.xml" Id="Rab7db50722654aaa" /><Relationship Type="http://schemas.openxmlformats.org/officeDocument/2006/relationships/presProps" Target="/ppt/presProps.xml" Id="R7c07d9b97d4f4976" /><Relationship Type="http://schemas.openxmlformats.org/officeDocument/2006/relationships/tableStyles" Target="/ppt/tableStyles.xml" Id="R28016df56393480d" /><Relationship Type="http://schemas.openxmlformats.org/officeDocument/2006/relationships/slide" Target="/ppt/slides/slide1.xml" Id="Rcbc4f5f5ebbd411c" /><Relationship Type="http://schemas.openxmlformats.org/officeDocument/2006/relationships/slide" Target="/ppt/slides/slide2.xml" Id="R4274f9b57942466d" /><Relationship Type="http://schemas.openxmlformats.org/officeDocument/2006/relationships/slide" Target="/ppt/slides/slide3.xml" Id="R6a3534954277414d" /><Relationship Type="http://schemas.openxmlformats.org/officeDocument/2006/relationships/slide" Target="/ppt/slides/slide4.xml" Id="R80fc0b563fd94d59" /><Relationship Type="http://schemas.openxmlformats.org/officeDocument/2006/relationships/slide" Target="/ppt/slides/slide5.xml" Id="Rf0b1e1c2aad747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a36bb0db8f4f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2d1e6cc9344158" /><Relationship Type="http://schemas.openxmlformats.org/officeDocument/2006/relationships/notesMaster" Target="/ppt/notesMasters/notesMaster1.xml" Id="Rf9a756e47bfc42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1bf070d9334c4b" /><Relationship Type="http://schemas.openxmlformats.org/officeDocument/2006/relationships/notesMaster" Target="/ppt/notesMasters/notesMaster1.xml" Id="R3077a766983846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9e7dfccbe64380" /><Relationship Type="http://schemas.openxmlformats.org/officeDocument/2006/relationships/notesMaster" Target="/ppt/notesMasters/notesMaster1.xml" Id="R174aeb79617640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85d91c311d4ac7" /><Relationship Type="http://schemas.openxmlformats.org/officeDocument/2006/relationships/notesMaster" Target="/ppt/notesMasters/notesMaster1.xml" Id="Redd07f92b21c4c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a6633f6e6247ad" /><Relationship Type="http://schemas.openxmlformats.org/officeDocument/2006/relationships/notesMaster" Target="/ppt/notesMasters/notesMaster1.xml" Id="R96036a0fbdee42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the analysis supports and state that all data and results are synthetic.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- 04_predictive_analytics/case_study/expected_results.md</a:t>
            </a:r>
          </a:p>
          <a:p xmlns:a="http://schemas.openxmlformats.org/drawingml/2006/main">
            <a:r>
              <a:t>- 04_predictive_analytics/case_study/business_case.md</a:t>
            </a:r>
          </a:p>
          <a:p xmlns:a="http://schemas.openxmlformats.org/drawingml/2006/main">
            <a:r>
              <a:t>- 04_predictive_analytics/src/train_evaluate_models.py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recommendation, then explain the three decision metrics. Keep methodological detail for later slides.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- 04_predictive_analytics/case_study/expected_results.md</a:t>
            </a:r>
          </a:p>
          <a:p xmlns:a="http://schemas.openxmlformats.org/drawingml/2006/main">
            <a:r>
              <a:t>- 04_predictive_analytics/case_study/business_case.md</a:t>
            </a:r>
          </a:p>
          <a:p xmlns:a="http://schemas.openxmlformats.org/drawingml/2006/main">
            <a:r>
              <a:t>- 04_predictive_analytics/src/train_evaluate_models.py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what the quantitative evidence means for the decision; avoid making the statistical method the headline.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- 04_predictive_analytics/case_study/expected_results.md</a:t>
            </a:r>
          </a:p>
          <a:p xmlns:a="http://schemas.openxmlformats.org/drawingml/2006/main">
            <a:r>
              <a:t>- 04_predictive_analytics/case_study/business_case.md</a:t>
            </a:r>
          </a:p>
          <a:p xmlns:a="http://schemas.openxmlformats.org/drawingml/2006/main">
            <a:r>
              <a:t>- 04_predictive_analytics/src/train_evaluate_models.py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table to make trade-offs explicit. Draw attention to any adverse or uncertain signal instead of averaging it away.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- 04_predictive_analytics/case_study/expected_results.md</a:t>
            </a:r>
          </a:p>
          <a:p xmlns:a="http://schemas.openxmlformats.org/drawingml/2006/main">
            <a:r>
              <a:t>- 04_predictive_analytics/case_study/business_case.md</a:t>
            </a:r>
          </a:p>
          <a:p xmlns:a="http://schemas.openxmlformats.org/drawingml/2006/main">
            <a:r>
              <a:t>- 04_predictive_analytics/src/train_evaluate_models.py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concrete action, monitoring, and the next decision point. Do not end on model or test mechanics.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- 04_predictive_analytics/case_study/expected_results.md</a:t>
            </a:r>
          </a:p>
          <a:p xmlns:a="http://schemas.openxmlformats.org/drawingml/2006/main">
            <a:r>
              <a:t>- 04_predictive_analytics/case_study/business_case.md</a:t>
            </a:r>
          </a:p>
          <a:p xmlns:a="http://schemas.openxmlformats.org/drawingml/2006/main">
            <a:r>
              <a:t>- 04_predictive_analytics/src/train_evaluate_models.py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4e83022c847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824e07c8324b90" /><Relationship Type="http://schemas.openxmlformats.org/officeDocument/2006/relationships/slideLayout" Target="/ppt/slideLayouts/slideLayout1.xml" Id="R931c965a60264c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1c965a60264c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ed64c1ab24a8b" /><Relationship Type="http://schemas.openxmlformats.org/officeDocument/2006/relationships/notesSlide" Target="/ppt/notesSlides/notesSlide1.xml" Id="Raae957632a8143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8a4669dae49d3" /><Relationship Type="http://schemas.openxmlformats.org/officeDocument/2006/relationships/notesSlide" Target="/ppt/notesSlides/notesSlide2.xml" Id="Raff3acad8c644e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dacb9194f4652" /><Relationship Type="http://schemas.openxmlformats.org/officeDocument/2006/relationships/chart" Target="/ppt/slides/charts/chart1.xml" Id="R357a3e137c5c4e5f" /><Relationship Type="http://schemas.openxmlformats.org/officeDocument/2006/relationships/notesSlide" Target="/ppt/notesSlides/notesSlide3.xml" Id="Ra0613eb089eb48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f4d7779d84b79" /><Relationship Type="http://schemas.openxmlformats.org/officeDocument/2006/relationships/notesSlide" Target="/ppt/notesSlides/notesSlide4.xml" Id="R84879bd0ad1b43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aa2fcf50a4ef0" /><Relationship Type="http://schemas.openxmlformats.org/officeDocument/2006/relationships/notesSlide" Target="/ppt/notesSlides/notesSlide5.xml" Id="Rae5836eacfd74ec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1"/>
        <c:ser>
          <c:idx val="0"/>
          <c:order val="0"/>
          <c:tx>
            <c:v>Validation PR AUC (%)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Gradient Boosting</c:v>
              </c:pt>
              <c:pt idx="1">
                <c:v>Logistic Regression</c:v>
              </c:pt>
              <c:pt idx="2">
                <c:v>Random Forest</c:v>
              </c:pt>
              <c:pt idx="3">
                <c:v>Recency rule</c:v>
              </c:pt>
            </c:strLit>
          </c:cat>
          <c:val>
            <c:numLit>
              <c:formatCode>General</c:formatCode>
              <c:ptCount val="4"/>
              <c:pt idx="0">
                <c:v>65.25</c:v>
              </c:pt>
              <c:pt idx="1">
                <c:v>65.07</c:v>
              </c:pt>
              <c:pt idx="2">
                <c:v>64.89</c:v>
              </c:pt>
              <c:pt idx="3">
                <c:v>56.93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35B66"/>
                    </a:solidFill>
                  </a:rPr>
                  <a:t>Validation PR AUC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35B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5B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5BC55-A5BE-45A5-9B2A-00792FEB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ANALYTICS STANDARD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411C4-7C0E-4E89-BCB1-C82C2111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"/>
            <a:ext cx="3914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35B66"/>
                </a:solidFill>
              </a:defRPr>
            </a:pPr>
            <a:r>
              <a:rPr sz="1800" b="0">
                <a:solidFill>
                  <a:srgbClr val="535B66"/>
                </a:solidFill>
              </a:rPr>
              <a:t>SYNTHETIC PORTFOLIO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44007-638A-4A35-B340-9EA28B3C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71750"/>
            <a:ext cx="9620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</a:defRPr>
            </a:pPr>
            <a:r>
              <a:rPr sz="5700" b="1">
                <a:solidFill>
                  <a:srgbClr val="000000"/>
                </a:solidFill>
              </a:rPr>
              <a:t>Pilot model-ranked</a:t>
            </a:r>
          </a:p>
          <a:p xmlns:a="http://schemas.openxmlformats.org/drawingml/2006/main">
            <a:pPr algn="l">
              <a:defRPr sz="5700" b="1">
                <a:solidFill>
                  <a:srgbClr val="000000"/>
                </a:solidFill>
              </a:defRPr>
            </a:pPr>
            <a:r>
              <a:rPr sz="5700" b="1">
                <a:solidFill>
                  <a:srgbClr val="000000"/>
                </a:solidFill>
              </a:rPr>
              <a:t>retention outreach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A5E12-F1A5-486B-B71B-4BF69E20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5B66"/>
                </a:solidFill>
              </a:defRPr>
            </a:pPr>
            <a:r>
              <a:rPr sz="1800" b="0">
                <a:solidFill>
                  <a:srgbClr val="535B66"/>
                </a:solidFill>
              </a:rPr>
              <a:t>A capacity-constrained decision readout</a:t>
            </a:r>
          </a:p>
        </p:txBody>
      </p:sp>
    </p:spTree>
    <p:extLst>
      <p:ext uri="{BB962C8B-B14F-4D97-AF65-F5344CB8AC3E}">
        <p14:creationId xmlns:p14="http://schemas.microsoft.com/office/powerpoint/2010/main" val="149611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2DAE8-B0B9-4493-97C5-E39401C2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model finds 552 more at-risk customers at the same capacity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D0F49-D3E8-4EB3-8F92-5D6502BA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5B66"/>
                </a:solidFill>
              </a:defRPr>
            </a:pPr>
            <a:r>
              <a:rPr sz="1050" b="0">
                <a:solidFill>
                  <a:srgbClr val="535B66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72F70-A536-48A9-BBCD-30AD920A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43000"/>
            <a:ext cx="1141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5B66"/>
                </a:solidFill>
              </a:defRPr>
            </a:pPr>
            <a:r>
              <a:rPr sz="1650" b="0">
                <a:solidFill>
                  <a:srgbClr val="535B66"/>
                </a:solidFill>
              </a:rPr>
              <a:t>Gradient Boosting materially improves targeting over the recency rule on the untouched August cohort. Illustrative economics are favorable, but intervention lift remains unvalidated.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A79EE-A550-4B8F-A230-5E811DC9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19375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CA458-3C76-4A1C-A235-9C32C563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48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+552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25114-72EF-4F67-8CD7-1C01BA31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148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incremental captures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6285D-D137-45E1-B231-92B81C36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19375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444C0-5CC2-40EF-A43D-2D6ADC95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7A55"/>
                </a:solidFill>
              </a:defRPr>
            </a:pPr>
            <a:r>
              <a:rPr sz="3750" b="1">
                <a:solidFill>
                  <a:srgbClr val="147A55"/>
                </a:solidFill>
              </a:rPr>
              <a:t>2.58x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54532-319C-478A-AFF1-41B140B9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148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lift at 5,000 contacts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DA1C4-C445-499F-9061-724B0429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3BF47-947D-491B-B282-EF11DFB0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4800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$46,451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2DB70-CF79-473A-A1F6-AE1D6908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1148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illustrative net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DEF9C-2034-4F47-8331-2E390454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81625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157FE-64B2-4A72-8183-4C7543CE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72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RECOMMENDATION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6662A-5AA5-4DDB-8957-74F25721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505450"/>
            <a:ext cx="871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Run a controlled pilot before wider deployment.</a:t>
            </a:r>
          </a:p>
        </p:txBody>
      </p:sp>
    </p:spTree>
    <p:extLst>
      <p:ext uri="{BB962C8B-B14F-4D97-AF65-F5344CB8AC3E}">
        <p14:creationId xmlns:p14="http://schemas.microsoft.com/office/powerpoint/2010/main" val="998202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57BB8-712D-4026-9161-CD0160E6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Gradient Boosting leads—but only narrowly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EDBCC-07F4-42A0-8152-AC567AB6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5B66"/>
                </a:solidFill>
              </a:defRPr>
            </a:pPr>
            <a:r>
              <a:rPr sz="1050" b="0">
                <a:solidFill>
                  <a:srgbClr val="535B66"/>
                </a:solidFill>
              </a:rPr>
              <a:t>03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334000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7a3e137c5c4e5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81140-B960-4F1A-82AD-DC01C7E3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52550"/>
            <a:ext cx="55340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63DF4-9713-4B11-9B57-CF2E2A47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295DE-4911-405A-95E3-1A1BAEC5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Gradient Boosting wins</a:t>
            </a:r>
          </a:p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Validation PR AUC: 0.6525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C3E99-C217-441B-B314-3394F277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33700"/>
            <a:ext cx="55340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95F86-563A-42CC-B0B9-CE48FE71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COMPLEXITY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FEAD6-81C7-485D-9B5F-BEF0373A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Only +0.0018 PR AUC</a:t>
            </a:r>
          </a:p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versus Logistic Regression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96843-EFB1-4540-87BF-7199CA9D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14850"/>
            <a:ext cx="55340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AC526-9BB3-4159-9FC1-5AB6C48A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TEST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7AABF-B6F6-4603-B050-0D3D074E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Freeze model and top-5,000 policy</a:t>
            </a:r>
          </a:p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before opening August Test</a:t>
            </a:r>
          </a:p>
        </p:txBody>
      </p:sp>
    </p:spTree>
    <p:extLst>
      <p:ext uri="{BB962C8B-B14F-4D97-AF65-F5344CB8AC3E}">
        <p14:creationId xmlns:p14="http://schemas.microsoft.com/office/powerpoint/2010/main" val="5253952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ABC10-09CC-4946-94AE-81E64847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Capacity metrics show a clear operating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78D3C-DD27-4516-9221-8569A498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5B66"/>
                </a:solidFill>
              </a:defRPr>
            </a:pPr>
            <a:r>
              <a:rPr sz="1050" b="0">
                <a:solidFill>
                  <a:srgbClr val="535B66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51AAD-890D-4D1E-B56F-0A2148AF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4014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5B66"/>
                </a:solidFill>
              </a:defRPr>
            </a:pPr>
            <a:r>
              <a:rPr sz="1575" b="0">
                <a:solidFill>
                  <a:srgbClr val="535B66"/>
                </a:solidFill>
              </a:rPr>
              <a:t>Both approaches contact 5,000 customers; the model concentrates substantially more future inactivity inside that fixed list.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390525" y="2143125"/>
          <a:ext xmlns:a="http://schemas.openxmlformats.org/drawingml/2006/main" cx="1141095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1809750"/>
                <a:gridCol w="1809750"/>
                <a:gridCol w="1714500"/>
                <a:gridCol w="3505200"/>
              </a:tblGrid>
              <a:tr h="6667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85725" marR="85725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Gradient Boosting</a:t>
                      </a:r>
                    </a:p>
                  </a:txBody>
                  <a:tcPr marL="85725" marR="85725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Recency rule</a:t>
                      </a:r>
                    </a:p>
                  </a:txBody>
                  <a:tcPr marL="85725" marR="85725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Difference</a:t>
                      </a:r>
                    </a:p>
                  </a:txBody>
                  <a:tcPr marL="85725" marR="85725" marT="76200" marB="7620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 marL="85725" marR="85725" marT="76200" marB="76200">
                    <a:solidFill>
                      <a:srgbClr val="00000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Precision@5,000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77.06%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66.02%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+11.04 pp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More relevant contacts</a:t>
                      </a:r>
                    </a:p>
                  </a:txBody>
                  <a:tcPr marL="85725" marR="85725" marT="76200" marB="7620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Recall@5,000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42.99%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36.83%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+6.16 pp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More risk captured</a:t>
                      </a:r>
                    </a:p>
                  </a:txBody>
                  <a:tcPr marL="85725" marR="85725" marT="76200" marB="7620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Lift@5,000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2.58x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2.21x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+0.37x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Better concentration</a:t>
                      </a:r>
                    </a:p>
                  </a:txBody>
                  <a:tcPr marL="85725" marR="85725" marT="76200" marB="7620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Inactive captured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3,853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3,301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+552</a:t>
                      </a:r>
                    </a:p>
                  </a:txBody>
                  <a:tcPr marL="85725" marR="85725" marT="76200" marB="7620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</a:rPr>
                        <a:t>16.7% improvement</a:t>
                      </a:r>
                    </a:p>
                  </a:txBody>
                  <a:tcPr marL="85725" marR="85725" marT="76200" marB="762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514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90576-E362-4889-9E4D-06C9A4D1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The next test is the intervention—not another offline metric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09D04-23F8-45F4-A822-C21E5BAB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5B66"/>
                </a:solidFill>
              </a:defRPr>
            </a:pPr>
            <a:r>
              <a:rPr sz="1050" b="0">
                <a:solidFill>
                  <a:srgbClr val="535B66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DC4CE-E805-4C9C-9A46-C0F95987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35623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5DDBC-4038-4CA0-B82F-77581562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859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CA114-71C5-4505-A34B-A8E8F1BC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295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Randomize or phase outreach among eligible high-risk customers to estimate incremental retention lift.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CDD46-155A-4B32-813C-3F18013C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05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EA7C5-1ACC-4864-8B93-93F32C10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24000"/>
            <a:ext cx="35623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42310-CB5B-4827-867B-76BC9FD1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859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MONITOR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2B081-2D6F-4AC6-90B0-69593A8D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95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Track calibration, prevalence, feature availability, segment outcomes, complaints, and realized value.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2766D-DD43-47C3-9876-02D27007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505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9549C-9E21-4585-AAEC-97FB9A60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24000"/>
            <a:ext cx="35623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E77EC-A58F-40E2-AD6A-24D525CD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8859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GOVERN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26053-6486-46C5-BEC5-ED825C10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71750"/>
            <a:ext cx="295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Define owners plus drift, retraining, and rollback triggers before expanding production use.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F792C-1F0E-4810-8C88-151329C6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5054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3DC6A-414F-44A8-8B65-EDDF1578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34000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40733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2026-08-26T03:52:20.0080000Z</dcterms:created>
  <dcterms:modified xsi:type="dcterms:W3CDTF">2026-08-26T03:52:20.0080000Z</dcterms:modified>
</coreProperties>
</file>