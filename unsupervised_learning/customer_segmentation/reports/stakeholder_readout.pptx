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slides/charts/chart1.xml" ContentType="application/vnd.openxmlformats-officedocument.drawingml.chart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5451cd62a0204f29" /><Relationship Type="http://schemas.openxmlformats.org/officeDocument/2006/relationships/extended-properties" Target="/docProps/app.xml" Id="Ra1d50acff14e4f5a" /><Relationship Type="http://schemas.openxmlformats.org/officeDocument/2006/relationships/officeDocument" Target="/ppt/presentation.xml" Id="Rf4f2099719c64487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a8008d0494984392"/>
  </p:sldMasterIdLst>
  <p:notesMasterIdLst>
    <p:notesMasterId xmlns:r="http://schemas.openxmlformats.org/officeDocument/2006/relationships" r:id="R1f27114124d741f1"/>
  </p:notesMasterIdLst>
  <p:sldIdLst>
    <p:sldId xmlns:r="http://schemas.openxmlformats.org/officeDocument/2006/relationships" id="256" r:id="R6973c0a33f8c430d"/>
    <p:sldId xmlns:r="http://schemas.openxmlformats.org/officeDocument/2006/relationships" id="257" r:id="Rc2a71ef624ac45b3"/>
    <p:sldId xmlns:r="http://schemas.openxmlformats.org/officeDocument/2006/relationships" id="258" r:id="R5d522869f0c3460e"/>
    <p:sldId xmlns:r="http://schemas.openxmlformats.org/officeDocument/2006/relationships" id="259" r:id="R846a88d4dfe94bb5"/>
    <p:sldId xmlns:r="http://schemas.openxmlformats.org/officeDocument/2006/relationships" id="260" r:id="R86d0d7160d884060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0668252f69514820" /><Relationship Type="http://schemas.openxmlformats.org/officeDocument/2006/relationships/slideMaster" Target="/ppt/slideMasters/slideMaster1.xml" Id="Ra8008d0494984392" /><Relationship Type="http://schemas.openxmlformats.org/officeDocument/2006/relationships/notesMaster" Target="/ppt/notesMasters/notesMaster1.xml" Id="R1f27114124d741f1" /><Relationship Type="http://schemas.openxmlformats.org/officeDocument/2006/relationships/presProps" Target="/ppt/presProps.xml" Id="R6cacc30cb323470c" /><Relationship Type="http://schemas.openxmlformats.org/officeDocument/2006/relationships/tableStyles" Target="/ppt/tableStyles.xml" Id="Re3afb83877dd4696" /><Relationship Type="http://schemas.openxmlformats.org/officeDocument/2006/relationships/slide" Target="/ppt/slides/slide1.xml" Id="R6973c0a33f8c430d" /><Relationship Type="http://schemas.openxmlformats.org/officeDocument/2006/relationships/slide" Target="/ppt/slides/slide2.xml" Id="Rc2a71ef624ac45b3" /><Relationship Type="http://schemas.openxmlformats.org/officeDocument/2006/relationships/slide" Target="/ppt/slides/slide3.xml" Id="R5d522869f0c3460e" /><Relationship Type="http://schemas.openxmlformats.org/officeDocument/2006/relationships/slide" Target="/ppt/slides/slide4.xml" Id="R846a88d4dfe94bb5" /><Relationship Type="http://schemas.openxmlformats.org/officeDocument/2006/relationships/slide" Target="/ppt/slides/slide5.xml" Id="R86d0d7160d884060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8669e8afbe694713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25fd9126898b498b" /><Relationship Type="http://schemas.openxmlformats.org/officeDocument/2006/relationships/notesMaster" Target="/ppt/notesMasters/notesMaster1.xml" Id="R00af7e12fe0d4876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b3978a0d4b8a4ba7" /><Relationship Type="http://schemas.openxmlformats.org/officeDocument/2006/relationships/notesMaster" Target="/ppt/notesMasters/notesMaster1.xml" Id="R32c8d70d55d645c8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0d6dba296b4f464e" /><Relationship Type="http://schemas.openxmlformats.org/officeDocument/2006/relationships/notesMaster" Target="/ppt/notesMasters/notesMaster1.xml" Id="Rdb0df7322d1b463a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0dc62b3bb02d4c70" /><Relationship Type="http://schemas.openxmlformats.org/officeDocument/2006/relationships/notesMaster" Target="/ppt/notesMasters/notesMaster1.xml" Id="Rc28fc7b07e214682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16a5cfbc01ae49c9" /><Relationship Type="http://schemas.openxmlformats.org/officeDocument/2006/relationships/notesMaster" Target="/ppt/notesMasters/notesMaster1.xml" Id="R0d8487ed58824b5f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ML2 stakeholder_readout.md</a:t>
            </a:r>
          </a:p>
          <a:p xmlns:a="http://schemas.openxmlformats.org/drawingml/2006/main">
            <a:r>
              <a:t>- ML2 ml2_executive_summary.png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ML2 reference_results.json: segment shares</a:t>
            </a:r>
          </a:p>
          <a:p xmlns:a="http://schemas.openxmlformats.org/drawingml/2006/main">
            <a:r>
              <a:t>- ML2 stakeholder_readout.md: activation hypotheses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ML2 reference_results.json: candidate comparison and selected-model metrics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ML2 model_card.md: intended use, limitations, and approval boundary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ML2 monitoring_plan.md</a:t>
            </a:r>
          </a:p>
          <a:p xmlns:a="http://schemas.openxmlformats.org/drawingml/2006/main">
            <a:r>
              <a:t>- ML2 stakeholder_readout.md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7c9827bb3b94b04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c0a573a48b0b439b" /><Relationship Type="http://schemas.openxmlformats.org/officeDocument/2006/relationships/slideLayout" Target="/ppt/slideLayouts/slideLayout1.xml" Id="Rd7442259e9a04e63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d7442259e9a04e63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46f9af9c3744ce1" /><Relationship Type="http://schemas.openxmlformats.org/officeDocument/2006/relationships/image" Target="/ppt/media/image.png" Id="R8ba8df16c15342f2" /><Relationship Type="http://schemas.openxmlformats.org/officeDocument/2006/relationships/notesSlide" Target="/ppt/notesSlides/notesSlide1.xml" Id="R44195d3aa43f4b8b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04143f792eb4673" /><Relationship Type="http://schemas.openxmlformats.org/officeDocument/2006/relationships/chart" Target="/ppt/slides/charts/chart1.xml" Id="Raa797eab82894ede" /><Relationship Type="http://schemas.openxmlformats.org/officeDocument/2006/relationships/notesSlide" Target="/ppt/notesSlides/notesSlide2.xml" Id="R0b129d6d86a747ae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3dfcfc02149450a" /><Relationship Type="http://schemas.openxmlformats.org/officeDocument/2006/relationships/notesSlide" Target="/ppt/notesSlides/notesSlide3.xml" Id="R7cf6b86b22544baa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141d5d950ef4434" /><Relationship Type="http://schemas.openxmlformats.org/officeDocument/2006/relationships/notesSlide" Target="/ppt/notesSlides/notesSlide4.xml" Id="Rc383175c7424416b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5d1a5e35e9f471c" /><Relationship Type="http://schemas.openxmlformats.org/officeDocument/2006/relationships/notesSlide" Target="/ppt/notesSlides/notesSlide5.xml" Id="Rb64740e66d4446f9" /></Relationships>
</file>

<file path=ppt/slides/charts/chart1.xml><?xml version="1.0" encoding="utf-8"?>
<c:chartSpace xmlns:c="http://schemas.openxmlformats.org/drawingml/2006/chart">
  <c:lang val="en-US"/>
  <c:chart>
    <c:plotArea>
      <c:barChart>
        <c:barDir val="bar"/>
        <c:grouping val="clustered"/>
        <c:varyColors val="0"/>
        <c:ser>
          <c:idx val="0"/>
          <c:order val="0"/>
          <c:tx>
            <c:v>Customer share</c:v>
          </c:tx>
          <c:spPr>
            <a:solidFill xmlns:a="http://schemas.openxmlformats.org/drawingml/2006/main">
              <a:srgbClr val="3CAEA3"/>
            </a:solidFill>
          </c:spPr>
          <c:cat>
            <c:strLit>
              <c:ptCount val="4"/>
              <c:pt idx="0">
                <c:v>Champions</c:v>
              </c:pt>
              <c:pt idx="1">
                <c:v>At Risk</c:v>
              </c:pt>
              <c:pt idx="2">
                <c:v>Digital Growth</c:v>
              </c:pt>
              <c:pt idx="3">
                <c:v>Deal Seekers</c:v>
              </c:pt>
            </c:strLit>
          </c:cat>
          <c:val>
            <c:numLit>
              <c:formatCode>0.0%</c:formatCode>
              <c:ptCount val="4"/>
              <c:pt idx="0">
                <c:v>0.325</c:v>
              </c:pt>
              <c:pt idx="1">
                <c:v>0.269</c:v>
              </c:pt>
              <c:pt idx="2">
                <c:v>0.225</c:v>
              </c:pt>
              <c:pt idx="3">
                <c:v>0.181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200" b="1">
                  <a:solidFill>
                    <a:srgbClr val="132238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5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CBD5DF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32238"/>
                </a:solidFill>
              </a:defRPr>
            </a:pPr>
          </a:p>
        </c:txPr>
        <c:crossAx val="48672768"/>
      </c:catAx>
      <c:valAx>
        <c:axId val="48672768"/>
        <c:scaling>
          <c:orientation val="minMax"/>
          <c:max val="0.4"/>
          <c:min val="0"/>
        </c:scaling>
        <c:delete val="0"/>
        <c:axPos val="b"/>
        <c:majorGridlines>
          <c:spPr>
            <a:ln xmlns:a="http://schemas.openxmlformats.org/drawingml/2006/main" w="9525">
              <a:solidFill>
                <a:srgbClr val="EEF2F5"/>
              </a:solidFill>
              <a:prstDash val="solid"/>
            </a:ln>
          </c:spPr>
        </c:majorGridlines>
        <c:numFmt formatCode="0%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26273"/>
                </a:solidFill>
              </a:defRPr>
            </a:pPr>
          </a:p>
        </c:txPr>
        <c:crossAx val="48650112"/>
        <c:crossBetween val="between"/>
        <c:majorUnit val="0.1"/>
      </c:valAx>
      <c:spPr>
        <a:noFill xmlns:a="http://schemas.openxmlformats.org/drawingml/2006/main"/>
      </c:spPr>
    </c:plotArea>
    <c:plotVisOnly val="1"/>
  </c:chart>
  <c:spPr>
    <a:solidFill xmlns:a="http://schemas.openxmlformats.org/drawingml/2006/main">
      <a:srgbClr val="FFFFFF"/>
    </a:solidFill>
  </c:spPr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cover-accent">
            <a:extLst xmlns:a="http://schemas.openxmlformats.org/drawingml/2006/main">
              <a:ext uri="{FF2B5EF4-FFF2-40B4-BE49-F238E27FC236}">
                <a16:creationId xmlns:a16="http://schemas.microsoft.com/office/drawing/2014/main" id="{DAD24D1A-E2F2-4DCC-938D-F787CAE6E1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62000"/>
            <a:ext cx="76200" cy="523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CAEA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cover-eyebrow">
            <a:extLst xmlns:a="http://schemas.openxmlformats.org/drawingml/2006/main">
              <a:ext uri="{FF2B5EF4-FFF2-40B4-BE49-F238E27FC236}">
                <a16:creationId xmlns:a16="http://schemas.microsoft.com/office/drawing/2014/main" id="{86B64CA8-2579-4875-8076-B13B5B13E9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876300"/>
            <a:ext cx="4476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3CAEA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3CAEA3"/>
                </a:solidFill>
                <a:latin typeface="Arial"/>
                <a:ea typeface="Arial"/>
                <a:cs typeface="Arial"/>
              </a:rPr>
              <a:t>ML2 • UNSUPERVISED LEARNING</a:t>
            </a:r>
          </a:p>
        </p:txBody>
      </p:sp>
      <p:sp>
        <p:nvSpPr>
          <p:cNvPr id="3" name="cover-title">
            <a:extLst xmlns:a="http://schemas.openxmlformats.org/drawingml/2006/main">
              <a:ext uri="{FF2B5EF4-FFF2-40B4-BE49-F238E27FC236}">
                <a16:creationId xmlns:a16="http://schemas.microsoft.com/office/drawing/2014/main" id="{05156375-A076-4541-B9F5-A373304DB4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428750"/>
            <a:ext cx="48577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050" b="1">
                <a:solidFill>
                  <a:srgbClr val="132238"/>
                </a:solidFill>
                <a:latin typeface="Arial"/>
                <a:ea typeface="Arial"/>
                <a:cs typeface="Arial"/>
              </a:defRPr>
            </a:pPr>
            <a:r>
              <a:rPr sz="4050" b="1">
                <a:solidFill>
                  <a:srgbClr val="132238"/>
                </a:solidFill>
                <a:latin typeface="Arial"/>
                <a:ea typeface="Arial"/>
                <a:cs typeface="Arial"/>
              </a:rPr>
              <a:t>Customer</a:t>
            </a:r>
          </a:p>
          <a:p xmlns:a="http://schemas.openxmlformats.org/drawingml/2006/main">
            <a:pPr algn="l">
              <a:defRPr sz="4050" b="1">
                <a:solidFill>
                  <a:srgbClr val="132238"/>
                </a:solidFill>
                <a:latin typeface="Arial"/>
                <a:ea typeface="Arial"/>
                <a:cs typeface="Arial"/>
              </a:defRPr>
            </a:pPr>
            <a:r>
              <a:rPr sz="4050" b="1">
                <a:solidFill>
                  <a:srgbClr val="132238"/>
                </a:solidFill>
                <a:latin typeface="Arial"/>
                <a:ea typeface="Arial"/>
                <a:cs typeface="Arial"/>
              </a:rPr>
              <a:t>Segmentation</a:t>
            </a:r>
          </a:p>
        </p:txBody>
      </p:sp>
      <p:sp>
        <p:nvSpPr>
          <p:cNvPr id="4" name="cover-subtitle">
            <a:extLst xmlns:a="http://schemas.openxmlformats.org/drawingml/2006/main">
              <a:ext uri="{FF2B5EF4-FFF2-40B4-BE49-F238E27FC236}">
                <a16:creationId xmlns:a16="http://schemas.microsoft.com/office/drawing/2014/main" id="{5897BC8D-0E5B-444C-A074-63729DA60B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181350"/>
            <a:ext cx="4762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26273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526273"/>
                </a:solidFill>
                <a:latin typeface="Arial"/>
                <a:ea typeface="Arial"/>
                <a:cs typeface="Arial"/>
              </a:rPr>
              <a:t>Which behavioral groups should guide differentiated marketing tests?</a:t>
            </a:r>
          </a:p>
        </p:txBody>
      </p:sp>
      <p:sp>
        <p:nvSpPr>
          <p:cNvPr id="5" name="cover-decision">
            <a:extLst xmlns:a="http://schemas.openxmlformats.org/drawingml/2006/main">
              <a:ext uri="{FF2B5EF4-FFF2-40B4-BE49-F238E27FC236}">
                <a16:creationId xmlns:a16="http://schemas.microsoft.com/office/drawing/2014/main" id="{65576641-E201-4008-A1E7-9D056081E3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048250"/>
            <a:ext cx="4095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32238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32238"/>
                </a:solidFill>
                <a:latin typeface="Arial"/>
                <a:ea typeface="Arial"/>
                <a:cs typeface="Arial"/>
              </a:rPr>
              <a:t>Executive decision readout</a:t>
            </a:r>
          </a:p>
        </p:txBody>
      </p:sp>
      <p:sp>
        <p:nvSpPr>
          <p:cNvPr id="6" name="cover-date">
            <a:extLst xmlns:a="http://schemas.openxmlformats.org/drawingml/2006/main">
              <a:ext uri="{FF2B5EF4-FFF2-40B4-BE49-F238E27FC236}">
                <a16:creationId xmlns:a16="http://schemas.microsoft.com/office/drawing/2014/main" id="{9288FCCE-1F9C-434D-9B2F-FFB7B87A6F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476875"/>
            <a:ext cx="4095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2627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6273"/>
                </a:solidFill>
                <a:latin typeface="Arial"/>
                <a:ea typeface="Arial"/>
                <a:cs typeface="Arial"/>
              </a:rPr>
              <a:t>Synthetic portfolio case • August 2026</a:t>
            </a:r>
          </a:p>
        </p:txBody>
      </p:sp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ba8df16c15342f2"/>
          <a:stretch xmlns:a="http://schemas.openxmlformats.org/drawingml/2006/main"/>
        </p:blipFill>
        <p:spPr>
          <a:xfrm xmlns:a="http://schemas.openxmlformats.org/drawingml/2006/main">
            <a:off x="6000750" y="1449623"/>
            <a:ext cx="5619750" cy="381588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42772790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section-2">
            <a:extLst xmlns:a="http://schemas.openxmlformats.org/drawingml/2006/main">
              <a:ext uri="{FF2B5EF4-FFF2-40B4-BE49-F238E27FC236}">
                <a16:creationId xmlns:a16="http://schemas.microsoft.com/office/drawing/2014/main" id="{5BBD6CA5-3A9D-48C1-9031-4CA06FDB0E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8575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0639B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20639B"/>
                </a:solidFill>
                <a:latin typeface="Arial"/>
                <a:ea typeface="Arial"/>
                <a:cs typeface="Arial"/>
              </a:rPr>
              <a:t>DECISION</a:t>
            </a:r>
          </a:p>
        </p:txBody>
      </p:sp>
      <p:sp>
        <p:nvSpPr>
          <p:cNvPr id="2" name="title-2">
            <a:extLst xmlns:a="http://schemas.openxmlformats.org/drawingml/2006/main">
              <a:ext uri="{FF2B5EF4-FFF2-40B4-BE49-F238E27FC236}">
                <a16:creationId xmlns:a16="http://schemas.microsoft.com/office/drawing/2014/main" id="{5BC69E48-6874-48CA-A82B-5D8799A56A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90550"/>
            <a:ext cx="11049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132238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132238"/>
                </a:solidFill>
                <a:latin typeface="Arial"/>
                <a:ea typeface="Arial"/>
                <a:cs typeface="Arial"/>
              </a:rPr>
              <a:t>Four groups create distinct, testable marketing hypotheses</a:t>
            </a:r>
          </a:p>
        </p:txBody>
      </p:sp>
      <p:sp>
        <p:nvSpPr>
          <p:cNvPr id="3" name="title-rule-2">
            <a:extLst xmlns:a="http://schemas.openxmlformats.org/drawingml/2006/main">
              <a:ext uri="{FF2B5EF4-FFF2-40B4-BE49-F238E27FC236}">
                <a16:creationId xmlns:a16="http://schemas.microsoft.com/office/drawing/2014/main" id="{394B21B3-F6BD-449B-AC05-8CCA84E5BA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333500"/>
            <a:ext cx="11163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D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page-2">
            <a:extLst xmlns:a="http://schemas.openxmlformats.org/drawingml/2006/main">
              <a:ext uri="{FF2B5EF4-FFF2-40B4-BE49-F238E27FC236}">
                <a16:creationId xmlns:a16="http://schemas.microsoft.com/office/drawing/2014/main" id="{933A7957-4924-4399-92BB-024C44DB62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457950"/>
            <a:ext cx="47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26273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26273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graphicFrame>
        <p:nvGraphicFramePr>
          <p:cNvPr id="12" name="Chart"/>
          <p:cNvGraphicFramePr/>
          <p:nvPr/>
        </p:nvGraphicFramePr>
        <p:xfrm>
          <a:off xmlns:a="http://schemas.openxmlformats.org/drawingml/2006/main" x="571500" y="1695450"/>
          <a:ext xmlns:a="http://schemas.openxmlformats.org/drawingml/2006/main" cx="5810250" cy="40957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aa797eab82894ede"/>
          </a:graphicData>
        </a:graphic>
      </p:graphicFrame>
      <p:sp>
        <p:nvSpPr>
          <p:cNvPr id="6" name="segment-actions">
            <a:extLst xmlns:a="http://schemas.openxmlformats.org/drawingml/2006/main">
              <a:ext uri="{FF2B5EF4-FFF2-40B4-BE49-F238E27FC236}">
                <a16:creationId xmlns:a16="http://schemas.microsoft.com/office/drawing/2014/main" id="{2C9C5DB5-23AD-4456-B56C-91C8E96900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1857375"/>
            <a:ext cx="4286250" cy="3667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32238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32238"/>
                </a:solidFill>
                <a:latin typeface="Arial"/>
                <a:ea typeface="Arial"/>
                <a:cs typeface="Arial"/>
              </a:rPr>
              <a:t>Champions</a:t>
            </a:r>
          </a:p>
          <a:p xmlns:a="http://schemas.openxmlformats.org/drawingml/2006/main">
            <a:pPr algn="l">
              <a:defRPr sz="1500" b="0">
                <a:solidFill>
                  <a:srgbClr val="132238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32238"/>
                </a:solidFill>
                <a:latin typeface="Arial"/>
                <a:ea typeface="Arial"/>
                <a:cs typeface="Arial"/>
              </a:rPr>
              <a:t>Recognition and referral tests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500" b="0">
                <a:solidFill>
                  <a:srgbClr val="132238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32238"/>
                </a:solidFill>
                <a:latin typeface="Arial"/>
                <a:ea typeface="Arial"/>
                <a:cs typeface="Arial"/>
              </a:rPr>
              <a:t>At Risk</a:t>
            </a:r>
          </a:p>
          <a:p xmlns:a="http://schemas.openxmlformats.org/drawingml/2006/main">
            <a:pPr algn="l">
              <a:defRPr sz="1500" b="0">
                <a:solidFill>
                  <a:srgbClr val="132238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32238"/>
                </a:solidFill>
                <a:latin typeface="Arial"/>
                <a:ea typeface="Arial"/>
                <a:cs typeface="Arial"/>
              </a:rPr>
              <a:t>Suppression-aware win-back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500" b="0">
                <a:solidFill>
                  <a:srgbClr val="132238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32238"/>
                </a:solidFill>
                <a:latin typeface="Arial"/>
                <a:ea typeface="Arial"/>
                <a:cs typeface="Arial"/>
              </a:rPr>
              <a:t>Digital Growth</a:t>
            </a:r>
          </a:p>
          <a:p xmlns:a="http://schemas.openxmlformats.org/drawingml/2006/main">
            <a:pPr algn="l">
              <a:defRPr sz="1500" b="0">
                <a:solidFill>
                  <a:srgbClr val="132238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32238"/>
                </a:solidFill>
                <a:latin typeface="Arial"/>
                <a:ea typeface="Arial"/>
                <a:cs typeface="Arial"/>
              </a:rPr>
              <a:t>Onboarding and cross-sell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500" b="0">
                <a:solidFill>
                  <a:srgbClr val="132238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32238"/>
                </a:solidFill>
                <a:latin typeface="Arial"/>
                <a:ea typeface="Arial"/>
                <a:cs typeface="Arial"/>
              </a:rPr>
              <a:t>Deal Seekers</a:t>
            </a:r>
          </a:p>
          <a:p xmlns:a="http://schemas.openxmlformats.org/drawingml/2006/main">
            <a:pPr algn="l">
              <a:defRPr sz="1500" b="0">
                <a:solidFill>
                  <a:srgbClr val="132238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32238"/>
                </a:solidFill>
                <a:latin typeface="Arial"/>
                <a:ea typeface="Arial"/>
                <a:cs typeface="Arial"/>
              </a:rPr>
              <a:t>Margin-safe offer thresholds</a:t>
            </a:r>
          </a:p>
        </p:txBody>
      </p:sp>
      <p:sp>
        <p:nvSpPr>
          <p:cNvPr id="7" name="segment-boundary">
            <a:extLst xmlns:a="http://schemas.openxmlformats.org/drawingml/2006/main">
              <a:ext uri="{FF2B5EF4-FFF2-40B4-BE49-F238E27FC236}">
                <a16:creationId xmlns:a16="http://schemas.microsoft.com/office/drawing/2014/main" id="{8495F867-8463-4BD3-9EF7-96F1FC0151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5572125"/>
            <a:ext cx="4095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E45756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E45756"/>
                </a:solidFill>
                <a:latin typeface="Arial"/>
                <a:ea typeface="Arial"/>
                <a:cs typeface="Arial"/>
              </a:rPr>
              <a:t>Use the groups to design tests—not to assume which treatment will work.</a:t>
            </a:r>
          </a:p>
        </p:txBody>
      </p:sp>
    </p:spTree>
    <p:extLst>
      <p:ext uri="{BB962C8B-B14F-4D97-AF65-F5344CB8AC3E}">
        <p14:creationId xmlns:p14="http://schemas.microsoft.com/office/powerpoint/2010/main" val="1493945678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section-3">
            <a:extLst xmlns:a="http://schemas.openxmlformats.org/drawingml/2006/main">
              <a:ext uri="{FF2B5EF4-FFF2-40B4-BE49-F238E27FC236}">
                <a16:creationId xmlns:a16="http://schemas.microsoft.com/office/drawing/2014/main" id="{32A21262-D041-49B8-9FDD-114E31232B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8575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0639B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20639B"/>
                </a:solidFill>
                <a:latin typeface="Arial"/>
                <a:ea typeface="Arial"/>
                <a:cs typeface="Arial"/>
              </a:rPr>
              <a:t>MODEL CHOICE</a:t>
            </a:r>
          </a:p>
        </p:txBody>
      </p:sp>
      <p:sp>
        <p:nvSpPr>
          <p:cNvPr id="2" name="title-3">
            <a:extLst xmlns:a="http://schemas.openxmlformats.org/drawingml/2006/main">
              <a:ext uri="{FF2B5EF4-FFF2-40B4-BE49-F238E27FC236}">
                <a16:creationId xmlns:a16="http://schemas.microsoft.com/office/drawing/2014/main" id="{77F06ED9-8678-490F-802D-1554982C8F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90550"/>
            <a:ext cx="11049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89501"/>
          </a:bodyPr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132238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132238"/>
                </a:solidFill>
                <a:latin typeface="Arial"/>
                <a:ea typeface="Arial"/>
                <a:cs typeface="Arial"/>
              </a:rPr>
              <a:t>K-means wins on operational usefulness, not the highest single score</a:t>
            </a:r>
          </a:p>
        </p:txBody>
      </p:sp>
      <p:sp>
        <p:nvSpPr>
          <p:cNvPr id="3" name="title-rule-3">
            <a:extLst xmlns:a="http://schemas.openxmlformats.org/drawingml/2006/main">
              <a:ext uri="{FF2B5EF4-FFF2-40B4-BE49-F238E27FC236}">
                <a16:creationId xmlns:a16="http://schemas.microsoft.com/office/drawing/2014/main" id="{23293BCF-8533-494F-B645-27D21805FC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333500"/>
            <a:ext cx="11163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D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page-3">
            <a:extLst xmlns:a="http://schemas.openxmlformats.org/drawingml/2006/main">
              <a:ext uri="{FF2B5EF4-FFF2-40B4-BE49-F238E27FC236}">
                <a16:creationId xmlns:a16="http://schemas.microsoft.com/office/drawing/2014/main" id="{9AA50678-9151-460C-8C35-B18BBB50DD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457950"/>
            <a:ext cx="47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26273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26273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5" name="model-intro">
            <a:extLst xmlns:a="http://schemas.openxmlformats.org/drawingml/2006/main">
              <a:ext uri="{FF2B5EF4-FFF2-40B4-BE49-F238E27FC236}">
                <a16:creationId xmlns:a16="http://schemas.microsoft.com/office/drawing/2014/main" id="{E0D30A0C-1FB2-4F95-996C-545EC59A42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638300"/>
            <a:ext cx="10668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26273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26273"/>
                </a:solidFill>
                <a:latin typeface="Arial"/>
                <a:ea typeface="Arial"/>
                <a:cs typeface="Arial"/>
              </a:rPr>
              <a:t>The selection balances geometric separation with stability, coverage, and a usable minimum group size.</a:t>
            </a:r>
          </a:p>
        </p:txBody>
      </p:sp>
      <p:sp>
        <p:nvSpPr>
          <p:cNvPr id="6" name="metric-Coverage">
            <a:extLst xmlns:a="http://schemas.openxmlformats.org/drawingml/2006/main">
              <a:ext uri="{FF2B5EF4-FFF2-40B4-BE49-F238E27FC236}">
                <a16:creationId xmlns:a16="http://schemas.microsoft.com/office/drawing/2014/main" id="{F480D956-1535-4C04-A2A1-DAB166BC3E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895600"/>
            <a:ext cx="3371850" cy="2705100"/>
          </a:xfrm>
          <a:prstGeom xmlns:a="http://schemas.openxmlformats.org/drawingml/2006/main" prst="roundRect">
            <a:avLst>
              <a:gd name="adj" fmla="val 2113"/>
            </a:avLst>
          </a:prstGeom>
          <a:solidFill xmlns:a="http://schemas.openxmlformats.org/drawingml/2006/main">
            <a:srgbClr val="EEF2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metric-accent-Coverage">
            <a:extLst xmlns:a="http://schemas.openxmlformats.org/drawingml/2006/main">
              <a:ext uri="{FF2B5EF4-FFF2-40B4-BE49-F238E27FC236}">
                <a16:creationId xmlns:a16="http://schemas.microsoft.com/office/drawing/2014/main" id="{D9675E29-E196-494A-BD2B-C4CD528F7D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895600"/>
            <a:ext cx="95250" cy="2705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CAEA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metric-value-Coverage">
            <a:extLst xmlns:a="http://schemas.openxmlformats.org/drawingml/2006/main">
              <a:ext uri="{FF2B5EF4-FFF2-40B4-BE49-F238E27FC236}">
                <a16:creationId xmlns:a16="http://schemas.microsoft.com/office/drawing/2014/main" id="{A472CD3D-FCE2-4B31-B550-26DC7E4E1A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257550"/>
            <a:ext cx="27622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132238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132238"/>
                </a:solidFill>
                <a:latin typeface="Arial"/>
                <a:ea typeface="Arial"/>
                <a:cs typeface="Arial"/>
              </a:rPr>
              <a:t>100%</a:t>
            </a:r>
          </a:p>
        </p:txBody>
      </p:sp>
      <p:sp>
        <p:nvSpPr>
          <p:cNvPr id="9" name="metric-label-Coverage">
            <a:extLst xmlns:a="http://schemas.openxmlformats.org/drawingml/2006/main">
              <a:ext uri="{FF2B5EF4-FFF2-40B4-BE49-F238E27FC236}">
                <a16:creationId xmlns:a16="http://schemas.microsoft.com/office/drawing/2014/main" id="{A1F42A5E-34D5-4B95-A680-9D611AFFE8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229100"/>
            <a:ext cx="2762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32238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32238"/>
                </a:solidFill>
                <a:latin typeface="Arial"/>
                <a:ea typeface="Arial"/>
                <a:cs typeface="Arial"/>
              </a:rPr>
              <a:t>Coverage</a:t>
            </a:r>
          </a:p>
        </p:txBody>
      </p:sp>
      <p:sp>
        <p:nvSpPr>
          <p:cNvPr id="10" name="metric-detail-Coverage">
            <a:extLst xmlns:a="http://schemas.openxmlformats.org/drawingml/2006/main">
              <a:ext uri="{FF2B5EF4-FFF2-40B4-BE49-F238E27FC236}">
                <a16:creationId xmlns:a16="http://schemas.microsoft.com/office/drawing/2014/main" id="{DFD42AF6-1EAB-471D-BCE6-A2D76AF7D1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762500"/>
            <a:ext cx="27622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26273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26273"/>
                </a:solidFill>
                <a:latin typeface="Arial"/>
                <a:ea typeface="Arial"/>
                <a:cs typeface="Arial"/>
              </a:rPr>
              <a:t>Every eligible customer receives an interpretable segment.</a:t>
            </a:r>
          </a:p>
        </p:txBody>
      </p:sp>
      <p:sp>
        <p:nvSpPr>
          <p:cNvPr id="11" name="metric-Resampling stability">
            <a:extLst xmlns:a="http://schemas.openxmlformats.org/drawingml/2006/main">
              <a:ext uri="{FF2B5EF4-FFF2-40B4-BE49-F238E27FC236}">
                <a16:creationId xmlns:a16="http://schemas.microsoft.com/office/drawing/2014/main" id="{2C030499-D323-463B-BA43-95FA8A885D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0075" y="2895600"/>
            <a:ext cx="3371850" cy="2705100"/>
          </a:xfrm>
          <a:prstGeom xmlns:a="http://schemas.openxmlformats.org/drawingml/2006/main" prst="roundRect">
            <a:avLst>
              <a:gd name="adj" fmla="val 2113"/>
            </a:avLst>
          </a:prstGeom>
          <a:solidFill xmlns:a="http://schemas.openxmlformats.org/drawingml/2006/main">
            <a:srgbClr val="EEF2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metric-accent-Resampling stability">
            <a:extLst xmlns:a="http://schemas.openxmlformats.org/drawingml/2006/main">
              <a:ext uri="{FF2B5EF4-FFF2-40B4-BE49-F238E27FC236}">
                <a16:creationId xmlns:a16="http://schemas.microsoft.com/office/drawing/2014/main" id="{77C2C6CF-57E7-4EE1-917F-B46A67B8E7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0075" y="2895600"/>
            <a:ext cx="95250" cy="2705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639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metric-value-Resampling stability">
            <a:extLst xmlns:a="http://schemas.openxmlformats.org/drawingml/2006/main">
              <a:ext uri="{FF2B5EF4-FFF2-40B4-BE49-F238E27FC236}">
                <a16:creationId xmlns:a16="http://schemas.microsoft.com/office/drawing/2014/main" id="{DA810745-D6EC-4CAE-9F18-FBD7DDE14F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33925" y="3257550"/>
            <a:ext cx="27622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132238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132238"/>
                </a:solidFill>
                <a:latin typeface="Arial"/>
                <a:ea typeface="Arial"/>
                <a:cs typeface="Arial"/>
              </a:rPr>
              <a:t>0.846</a:t>
            </a:r>
          </a:p>
        </p:txBody>
      </p:sp>
      <p:sp>
        <p:nvSpPr>
          <p:cNvPr id="14" name="metric-label-Resampling stability">
            <a:extLst xmlns:a="http://schemas.openxmlformats.org/drawingml/2006/main">
              <a:ext uri="{FF2B5EF4-FFF2-40B4-BE49-F238E27FC236}">
                <a16:creationId xmlns:a16="http://schemas.microsoft.com/office/drawing/2014/main" id="{DE037AB6-422F-4B19-AC79-6D6B016C35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33925" y="4229100"/>
            <a:ext cx="2762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32238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32238"/>
                </a:solidFill>
                <a:latin typeface="Arial"/>
                <a:ea typeface="Arial"/>
                <a:cs typeface="Arial"/>
              </a:rPr>
              <a:t>Resampling stability</a:t>
            </a:r>
          </a:p>
        </p:txBody>
      </p:sp>
      <p:sp>
        <p:nvSpPr>
          <p:cNvPr id="15" name="metric-detail-Resampling stability">
            <a:extLst xmlns:a="http://schemas.openxmlformats.org/drawingml/2006/main">
              <a:ext uri="{FF2B5EF4-FFF2-40B4-BE49-F238E27FC236}">
                <a16:creationId xmlns:a16="http://schemas.microsoft.com/office/drawing/2014/main" id="{8980275A-6A6F-4418-8DA3-BEDBE70ED6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33925" y="4762500"/>
            <a:ext cx="27622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26273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26273"/>
                </a:solidFill>
                <a:latin typeface="Arial"/>
                <a:ea typeface="Arial"/>
                <a:cs typeface="Arial"/>
              </a:rPr>
              <a:t>The structure remains consistent across bootstrap samples.</a:t>
            </a:r>
          </a:p>
        </p:txBody>
      </p:sp>
      <p:sp>
        <p:nvSpPr>
          <p:cNvPr id="16" name="metric-Smallest group">
            <a:extLst xmlns:a="http://schemas.openxmlformats.org/drawingml/2006/main">
              <a:ext uri="{FF2B5EF4-FFF2-40B4-BE49-F238E27FC236}">
                <a16:creationId xmlns:a16="http://schemas.microsoft.com/office/drawing/2014/main" id="{6B22C1FE-25C2-4A97-8B42-33894C8CE9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895600"/>
            <a:ext cx="3371850" cy="2705100"/>
          </a:xfrm>
          <a:prstGeom xmlns:a="http://schemas.openxmlformats.org/drawingml/2006/main" prst="roundRect">
            <a:avLst>
              <a:gd name="adj" fmla="val 2113"/>
            </a:avLst>
          </a:prstGeom>
          <a:solidFill xmlns:a="http://schemas.openxmlformats.org/drawingml/2006/main">
            <a:srgbClr val="EEF2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metric-accent-Smallest group">
            <a:extLst xmlns:a="http://schemas.openxmlformats.org/drawingml/2006/main">
              <a:ext uri="{FF2B5EF4-FFF2-40B4-BE49-F238E27FC236}">
                <a16:creationId xmlns:a16="http://schemas.microsoft.com/office/drawing/2014/main" id="{98443493-A63F-490C-8CEB-AD55C82988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895600"/>
            <a:ext cx="95250" cy="2705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D55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metric-value-Smallest group">
            <a:extLst xmlns:a="http://schemas.openxmlformats.org/drawingml/2006/main">
              <a:ext uri="{FF2B5EF4-FFF2-40B4-BE49-F238E27FC236}">
                <a16:creationId xmlns:a16="http://schemas.microsoft.com/office/drawing/2014/main" id="{FE8C3872-7D99-4072-B135-EBF2F0525C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3257550"/>
            <a:ext cx="27622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132238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132238"/>
                </a:solidFill>
                <a:latin typeface="Arial"/>
                <a:ea typeface="Arial"/>
                <a:cs typeface="Arial"/>
              </a:rPr>
              <a:t>18.1%</a:t>
            </a:r>
          </a:p>
        </p:txBody>
      </p:sp>
      <p:sp>
        <p:nvSpPr>
          <p:cNvPr id="19" name="metric-label-Smallest group">
            <a:extLst xmlns:a="http://schemas.openxmlformats.org/drawingml/2006/main">
              <a:ext uri="{FF2B5EF4-FFF2-40B4-BE49-F238E27FC236}">
                <a16:creationId xmlns:a16="http://schemas.microsoft.com/office/drawing/2014/main" id="{AD9494B9-C645-4A8D-9103-ED9E64B9C5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4229100"/>
            <a:ext cx="2762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32238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32238"/>
                </a:solidFill>
                <a:latin typeface="Arial"/>
                <a:ea typeface="Arial"/>
                <a:cs typeface="Arial"/>
              </a:rPr>
              <a:t>Smallest group</a:t>
            </a:r>
          </a:p>
        </p:txBody>
      </p:sp>
      <p:sp>
        <p:nvSpPr>
          <p:cNvPr id="20" name="metric-detail-Smallest group">
            <a:extLst xmlns:a="http://schemas.openxmlformats.org/drawingml/2006/main">
              <a:ext uri="{FF2B5EF4-FFF2-40B4-BE49-F238E27FC236}">
                <a16:creationId xmlns:a16="http://schemas.microsoft.com/office/drawing/2014/main" id="{574DCA7D-2537-464F-B8B1-2388D90E35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4762500"/>
            <a:ext cx="27622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26273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26273"/>
                </a:solidFill>
                <a:latin typeface="Arial"/>
                <a:ea typeface="Arial"/>
                <a:cs typeface="Arial"/>
              </a:rPr>
              <a:t>No micro-segment that Marketing cannot operate reliably.</a:t>
            </a:r>
          </a:p>
        </p:txBody>
      </p:sp>
      <p:sp>
        <p:nvSpPr>
          <p:cNvPr id="21" name="candidate-note">
            <a:extLst xmlns:a="http://schemas.openxmlformats.org/drawingml/2006/main">
              <a:ext uri="{FF2B5EF4-FFF2-40B4-BE49-F238E27FC236}">
                <a16:creationId xmlns:a16="http://schemas.microsoft.com/office/drawing/2014/main" id="{A6A6A799-6CC1-4570-B852-94BDE09AEC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924550"/>
            <a:ext cx="1028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9845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32238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32238"/>
                </a:solidFill>
                <a:latin typeface="Arial"/>
                <a:ea typeface="Arial"/>
                <a:cs typeface="Arial"/>
              </a:rPr>
              <a:t>GMM and DBSCAN showed attractive geometry, but created undersized groups or left too many customers unassigned.</a:t>
            </a:r>
          </a:p>
        </p:txBody>
      </p:sp>
    </p:spTree>
    <p:extLst>
      <p:ext uri="{BB962C8B-B14F-4D97-AF65-F5344CB8AC3E}">
        <p14:creationId xmlns:p14="http://schemas.microsoft.com/office/powerpoint/2010/main" val="1838986236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section-4">
            <a:extLst xmlns:a="http://schemas.openxmlformats.org/drawingml/2006/main">
              <a:ext uri="{FF2B5EF4-FFF2-40B4-BE49-F238E27FC236}">
                <a16:creationId xmlns:a16="http://schemas.microsoft.com/office/drawing/2014/main" id="{AC055551-DE51-4E82-BAE3-7B26C4EDD3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8575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0639B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20639B"/>
                </a:solidFill>
                <a:latin typeface="Arial"/>
                <a:ea typeface="Arial"/>
                <a:cs typeface="Arial"/>
              </a:rPr>
              <a:t>INTERPRETATION</a:t>
            </a:r>
          </a:p>
        </p:txBody>
      </p:sp>
      <p:sp>
        <p:nvSpPr>
          <p:cNvPr id="2" name="title-4">
            <a:extLst xmlns:a="http://schemas.openxmlformats.org/drawingml/2006/main">
              <a:ext uri="{FF2B5EF4-FFF2-40B4-BE49-F238E27FC236}">
                <a16:creationId xmlns:a16="http://schemas.microsoft.com/office/drawing/2014/main" id="{2E962564-EA36-419E-88EB-94620CC33F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90550"/>
            <a:ext cx="11049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132238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132238"/>
                </a:solidFill>
                <a:latin typeface="Arial"/>
                <a:ea typeface="Arial"/>
                <a:cs typeface="Arial"/>
              </a:rPr>
              <a:t>Segments are testable hypotheses—not fixed identities</a:t>
            </a:r>
          </a:p>
        </p:txBody>
      </p:sp>
      <p:sp>
        <p:nvSpPr>
          <p:cNvPr id="3" name="title-rule-4">
            <a:extLst xmlns:a="http://schemas.openxmlformats.org/drawingml/2006/main">
              <a:ext uri="{FF2B5EF4-FFF2-40B4-BE49-F238E27FC236}">
                <a16:creationId xmlns:a16="http://schemas.microsoft.com/office/drawing/2014/main" id="{393BBA49-F045-4BF3-85CE-422813DE77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333500"/>
            <a:ext cx="11163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D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page-4">
            <a:extLst xmlns:a="http://schemas.openxmlformats.org/drawingml/2006/main">
              <a:ext uri="{FF2B5EF4-FFF2-40B4-BE49-F238E27FC236}">
                <a16:creationId xmlns:a16="http://schemas.microsoft.com/office/drawing/2014/main" id="{CDDCA49C-79C9-4AA3-AC83-F6D3974C49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457950"/>
            <a:ext cx="47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26273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26273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5" name="left-head">
            <a:extLst xmlns:a="http://schemas.openxmlformats.org/drawingml/2006/main">
              <a:ext uri="{FF2B5EF4-FFF2-40B4-BE49-F238E27FC236}">
                <a16:creationId xmlns:a16="http://schemas.microsoft.com/office/drawing/2014/main" id="{5FCA0605-AA5F-4694-B099-EECCDDED73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809750"/>
            <a:ext cx="4762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3CAEA3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3CAEA3"/>
                </a:solidFill>
                <a:latin typeface="Arial"/>
                <a:ea typeface="Arial"/>
                <a:cs typeface="Arial"/>
              </a:rPr>
              <a:t>What the model supports</a:t>
            </a:r>
          </a:p>
        </p:txBody>
      </p:sp>
      <p:sp>
        <p:nvSpPr>
          <p:cNvPr id="6" name="left-body">
            <a:extLst xmlns:a="http://schemas.openxmlformats.org/drawingml/2006/main">
              <a:ext uri="{FF2B5EF4-FFF2-40B4-BE49-F238E27FC236}">
                <a16:creationId xmlns:a16="http://schemas.microsoft.com/office/drawing/2014/main" id="{F22C66A4-93A4-46B6-84F8-F376E010CA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428875"/>
            <a:ext cx="485775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32238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32238"/>
                </a:solidFill>
                <a:latin typeface="Arial"/>
                <a:ea typeface="Arial"/>
                <a:cs typeface="Arial"/>
              </a:rPr>
              <a:t>• A manageable behavioral taxonomy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650" b="0">
                <a:solidFill>
                  <a:srgbClr val="132238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32238"/>
                </a:solidFill>
                <a:latin typeface="Arial"/>
                <a:ea typeface="Arial"/>
                <a:cs typeface="Arial"/>
              </a:rPr>
              <a:t>• Distinct campaign hypotheses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650" b="0">
                <a:solidFill>
                  <a:srgbClr val="132238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32238"/>
                </a:solidFill>
                <a:latin typeface="Arial"/>
                <a:ea typeface="Arial"/>
                <a:cs typeface="Arial"/>
              </a:rPr>
              <a:t>• Experiment stratification and reporting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650" b="0">
                <a:solidFill>
                  <a:srgbClr val="132238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32238"/>
                </a:solidFill>
                <a:latin typeface="Arial"/>
                <a:ea typeface="Arial"/>
                <a:cs typeface="Arial"/>
              </a:rPr>
              <a:t>• Reviewable changes in customer behavior over time</a:t>
            </a:r>
          </a:p>
        </p:txBody>
      </p:sp>
      <p:sp>
        <p:nvSpPr>
          <p:cNvPr id="7" name="column-divider">
            <a:extLst xmlns:a="http://schemas.openxmlformats.org/drawingml/2006/main">
              <a:ext uri="{FF2B5EF4-FFF2-40B4-BE49-F238E27FC236}">
                <a16:creationId xmlns:a16="http://schemas.microsoft.com/office/drawing/2014/main" id="{8A25DE84-ED9F-4C88-AEA1-3264942578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1809750"/>
            <a:ext cx="19050" cy="3524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D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right-head">
            <a:extLst xmlns:a="http://schemas.openxmlformats.org/drawingml/2006/main">
              <a:ext uri="{FF2B5EF4-FFF2-40B4-BE49-F238E27FC236}">
                <a16:creationId xmlns:a16="http://schemas.microsoft.com/office/drawing/2014/main" id="{4F67ECEC-2CB9-4B2A-AF3C-B2DDB96BE4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809750"/>
            <a:ext cx="4762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E45756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E45756"/>
                </a:solidFill>
                <a:latin typeface="Arial"/>
                <a:ea typeface="Arial"/>
                <a:cs typeface="Arial"/>
              </a:rPr>
              <a:t>What the model cannot establish</a:t>
            </a:r>
          </a:p>
        </p:txBody>
      </p:sp>
      <p:sp>
        <p:nvSpPr>
          <p:cNvPr id="9" name="right-body">
            <a:extLst xmlns:a="http://schemas.openxmlformats.org/drawingml/2006/main">
              <a:ext uri="{FF2B5EF4-FFF2-40B4-BE49-F238E27FC236}">
                <a16:creationId xmlns:a16="http://schemas.microsoft.com/office/drawing/2014/main" id="{A244F34B-8276-466E-B4C1-4EBA9BFF64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428875"/>
            <a:ext cx="485775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32238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32238"/>
                </a:solidFill>
                <a:latin typeface="Arial"/>
                <a:ea typeface="Arial"/>
                <a:cs typeface="Arial"/>
              </a:rPr>
              <a:t>• That segments are naturally or permanently real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650" b="0">
                <a:solidFill>
                  <a:srgbClr val="132238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32238"/>
                </a:solidFill>
                <a:latin typeface="Arial"/>
                <a:ea typeface="Arial"/>
                <a:cs typeface="Arial"/>
              </a:rPr>
              <a:t>• That every member behaves like the average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650" b="0">
                <a:solidFill>
                  <a:srgbClr val="132238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32238"/>
                </a:solidFill>
                <a:latin typeface="Arial"/>
                <a:ea typeface="Arial"/>
                <a:cs typeface="Arial"/>
              </a:rPr>
              <a:t>• That a segment-specific offer causes improvement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650" b="0">
                <a:solidFill>
                  <a:srgbClr val="132238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32238"/>
                </a:solidFill>
                <a:latin typeface="Arial"/>
                <a:ea typeface="Arial"/>
                <a:cs typeface="Arial"/>
              </a:rPr>
              <a:t>• That protected-group risk disappears when attributes are excluded</a:t>
            </a:r>
          </a:p>
        </p:txBody>
      </p:sp>
      <p:sp>
        <p:nvSpPr>
          <p:cNvPr id="10" name="bottom-boundary">
            <a:extLst xmlns:a="http://schemas.openxmlformats.org/drawingml/2006/main">
              <a:ext uri="{FF2B5EF4-FFF2-40B4-BE49-F238E27FC236}">
                <a16:creationId xmlns:a16="http://schemas.microsoft.com/office/drawing/2014/main" id="{1EBFDA42-1C2F-4EFC-9149-128D12E5EB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810250"/>
            <a:ext cx="9906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6122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32238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32238"/>
                </a:solidFill>
                <a:latin typeface="Arial"/>
                <a:ea typeface="Arial"/>
                <a:cs typeface="Arial"/>
              </a:rPr>
              <a:t>Consent, suppression, treatment choice, fairness review, and campaign execution remain human-owned controls.</a:t>
            </a:r>
          </a:p>
        </p:txBody>
      </p:sp>
    </p:spTree>
    <p:extLst>
      <p:ext uri="{BB962C8B-B14F-4D97-AF65-F5344CB8AC3E}">
        <p14:creationId xmlns:p14="http://schemas.microsoft.com/office/powerpoint/2010/main" val="727740991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section-5">
            <a:extLst xmlns:a="http://schemas.openxmlformats.org/drawingml/2006/main">
              <a:ext uri="{FF2B5EF4-FFF2-40B4-BE49-F238E27FC236}">
                <a16:creationId xmlns:a16="http://schemas.microsoft.com/office/drawing/2014/main" id="{7F872921-48E1-467D-851E-999DD30958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8575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0639B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20639B"/>
                </a:solidFill>
                <a:latin typeface="Arial"/>
                <a:ea typeface="Arial"/>
                <a:cs typeface="Arial"/>
              </a:rPr>
              <a:t>NEXT ACTION</a:t>
            </a:r>
          </a:p>
        </p:txBody>
      </p:sp>
      <p:sp>
        <p:nvSpPr>
          <p:cNvPr id="2" name="title-5">
            <a:extLst xmlns:a="http://schemas.openxmlformats.org/drawingml/2006/main">
              <a:ext uri="{FF2B5EF4-FFF2-40B4-BE49-F238E27FC236}">
                <a16:creationId xmlns:a16="http://schemas.microsoft.com/office/drawing/2014/main" id="{44CC8DCE-59E7-45FE-B50C-EB97104A5A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90550"/>
            <a:ext cx="11049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132238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132238"/>
                </a:solidFill>
                <a:latin typeface="Arial"/>
                <a:ea typeface="Arial"/>
                <a:cs typeface="Arial"/>
              </a:rPr>
              <a:t>Turn the four personas into measurable experiments</a:t>
            </a:r>
          </a:p>
        </p:txBody>
      </p:sp>
      <p:sp>
        <p:nvSpPr>
          <p:cNvPr id="3" name="title-rule-5">
            <a:extLst xmlns:a="http://schemas.openxmlformats.org/drawingml/2006/main">
              <a:ext uri="{FF2B5EF4-FFF2-40B4-BE49-F238E27FC236}">
                <a16:creationId xmlns:a16="http://schemas.microsoft.com/office/drawing/2014/main" id="{4341FC5D-6AA2-4063-9DCD-F8F709F45A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333500"/>
            <a:ext cx="11163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D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page-5">
            <a:extLst xmlns:a="http://schemas.openxmlformats.org/drawingml/2006/main">
              <a:ext uri="{FF2B5EF4-FFF2-40B4-BE49-F238E27FC236}">
                <a16:creationId xmlns:a16="http://schemas.microsoft.com/office/drawing/2014/main" id="{33E89FA2-41A9-4F34-AC47-E0CB6D8F5B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457950"/>
            <a:ext cx="47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26273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26273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5" name="process-line-5">
            <a:extLst xmlns:a="http://schemas.openxmlformats.org/drawingml/2006/main">
              <a:ext uri="{FF2B5EF4-FFF2-40B4-BE49-F238E27FC236}">
                <a16:creationId xmlns:a16="http://schemas.microsoft.com/office/drawing/2014/main" id="{A97659EC-4A27-4F7A-A1C6-AC0F31C6B3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990850"/>
            <a:ext cx="96202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D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step-circle-5-0">
            <a:extLst xmlns:a="http://schemas.openxmlformats.org/drawingml/2006/main">
              <a:ext uri="{FF2B5EF4-FFF2-40B4-BE49-F238E27FC236}">
                <a16:creationId xmlns:a16="http://schemas.microsoft.com/office/drawing/2014/main" id="{128F1742-C300-4028-9444-14E9C61B37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2762250"/>
            <a:ext cx="476250" cy="476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0639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step-number-5-0">
            <a:extLst xmlns:a="http://schemas.openxmlformats.org/drawingml/2006/main">
              <a:ext uri="{FF2B5EF4-FFF2-40B4-BE49-F238E27FC236}">
                <a16:creationId xmlns:a16="http://schemas.microsoft.com/office/drawing/2014/main" id="{DE048733-B64E-412F-A336-2AEAAC4BF4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9225" y="2857500"/>
            <a:ext cx="2095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8" name="step-title-5-0">
            <a:extLst xmlns:a="http://schemas.openxmlformats.org/drawingml/2006/main">
              <a:ext uri="{FF2B5EF4-FFF2-40B4-BE49-F238E27FC236}">
                <a16:creationId xmlns:a16="http://schemas.microsoft.com/office/drawing/2014/main" id="{AD3E47EF-BFE3-4AA2-8E07-519A582DF8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3524250"/>
            <a:ext cx="2000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32238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32238"/>
                </a:solidFill>
                <a:latin typeface="Arial"/>
                <a:ea typeface="Arial"/>
                <a:cs typeface="Arial"/>
              </a:rPr>
              <a:t>Validate</a:t>
            </a:r>
          </a:p>
        </p:txBody>
      </p:sp>
      <p:sp>
        <p:nvSpPr>
          <p:cNvPr id="9" name="step-body-5-0">
            <a:extLst xmlns:a="http://schemas.openxmlformats.org/drawingml/2006/main">
              <a:ext uri="{FF2B5EF4-FFF2-40B4-BE49-F238E27FC236}">
                <a16:creationId xmlns:a16="http://schemas.microsoft.com/office/drawing/2014/main" id="{8486020A-94AF-4E0D-94CA-C5C9E4F5C4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95750"/>
            <a:ext cx="213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52627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6273"/>
                </a:solidFill>
                <a:latin typeface="Arial"/>
                <a:ea typeface="Arial"/>
                <a:cs typeface="Arial"/>
              </a:rPr>
              <a:t>Recreate features and stability checks on governed historical customer data.</a:t>
            </a:r>
          </a:p>
        </p:txBody>
      </p:sp>
      <p:sp>
        <p:nvSpPr>
          <p:cNvPr id="10" name="step-circle-5-1">
            <a:extLst xmlns:a="http://schemas.openxmlformats.org/drawingml/2006/main">
              <a:ext uri="{FF2B5EF4-FFF2-40B4-BE49-F238E27FC236}">
                <a16:creationId xmlns:a16="http://schemas.microsoft.com/office/drawing/2014/main" id="{31762E7D-BFE5-465F-A508-00297BC06B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5" y="2762250"/>
            <a:ext cx="476250" cy="476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3223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step-number-5-1">
            <a:extLst xmlns:a="http://schemas.openxmlformats.org/drawingml/2006/main">
              <a:ext uri="{FF2B5EF4-FFF2-40B4-BE49-F238E27FC236}">
                <a16:creationId xmlns:a16="http://schemas.microsoft.com/office/drawing/2014/main" id="{74BB2E78-E544-4B52-87C7-E22EE4DA02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1975" y="2857500"/>
            <a:ext cx="2095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2" name="step-title-5-1">
            <a:extLst xmlns:a="http://schemas.openxmlformats.org/drawingml/2006/main">
              <a:ext uri="{FF2B5EF4-FFF2-40B4-BE49-F238E27FC236}">
                <a16:creationId xmlns:a16="http://schemas.microsoft.com/office/drawing/2014/main" id="{F23C8594-6D89-4284-982C-C066585569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3524250"/>
            <a:ext cx="2000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32238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32238"/>
                </a:solidFill>
                <a:latin typeface="Arial"/>
                <a:ea typeface="Arial"/>
                <a:cs typeface="Arial"/>
              </a:rPr>
              <a:t>Design</a:t>
            </a:r>
          </a:p>
        </p:txBody>
      </p:sp>
      <p:sp>
        <p:nvSpPr>
          <p:cNvPr id="13" name="step-body-5-1">
            <a:extLst xmlns:a="http://schemas.openxmlformats.org/drawingml/2006/main">
              <a:ext uri="{FF2B5EF4-FFF2-40B4-BE49-F238E27FC236}">
                <a16:creationId xmlns:a16="http://schemas.microsoft.com/office/drawing/2014/main" id="{34AA8385-6179-45AD-80B1-268D559C0C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4095750"/>
            <a:ext cx="213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52627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6273"/>
                </a:solidFill>
                <a:latin typeface="Arial"/>
                <a:ea typeface="Arial"/>
                <a:cs typeface="Arial"/>
              </a:rPr>
              <a:t>Define one treatment hypothesis, holdout, metric, and guardrails per segment.</a:t>
            </a:r>
          </a:p>
        </p:txBody>
      </p:sp>
      <p:sp>
        <p:nvSpPr>
          <p:cNvPr id="14" name="step-circle-5-2">
            <a:extLst xmlns:a="http://schemas.openxmlformats.org/drawingml/2006/main">
              <a:ext uri="{FF2B5EF4-FFF2-40B4-BE49-F238E27FC236}">
                <a16:creationId xmlns:a16="http://schemas.microsoft.com/office/drawing/2014/main" id="{4B3393A0-B9F8-49FF-9E03-24352E708D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2762250"/>
            <a:ext cx="476250" cy="476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3223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step-number-5-2">
            <a:extLst xmlns:a="http://schemas.openxmlformats.org/drawingml/2006/main">
              <a:ext uri="{FF2B5EF4-FFF2-40B4-BE49-F238E27FC236}">
                <a16:creationId xmlns:a16="http://schemas.microsoft.com/office/drawing/2014/main" id="{7C64144E-C6E9-44CB-8D00-EACB2CF2DB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24725" y="2857500"/>
            <a:ext cx="2095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6" name="step-title-5-2">
            <a:extLst xmlns:a="http://schemas.openxmlformats.org/drawingml/2006/main">
              <a:ext uri="{FF2B5EF4-FFF2-40B4-BE49-F238E27FC236}">
                <a16:creationId xmlns:a16="http://schemas.microsoft.com/office/drawing/2014/main" id="{CD559454-0B11-4066-9F70-38DAA1D50C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3524250"/>
            <a:ext cx="2000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32238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32238"/>
                </a:solidFill>
                <a:latin typeface="Arial"/>
                <a:ea typeface="Arial"/>
                <a:cs typeface="Arial"/>
              </a:rPr>
              <a:t>Experiment</a:t>
            </a:r>
          </a:p>
        </p:txBody>
      </p:sp>
      <p:sp>
        <p:nvSpPr>
          <p:cNvPr id="17" name="step-body-5-2">
            <a:extLst xmlns:a="http://schemas.openxmlformats.org/drawingml/2006/main">
              <a:ext uri="{FF2B5EF4-FFF2-40B4-BE49-F238E27FC236}">
                <a16:creationId xmlns:a16="http://schemas.microsoft.com/office/drawing/2014/main" id="{AEA89B68-7F5A-46DF-A810-DAF8738AC7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4095750"/>
            <a:ext cx="213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52627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6273"/>
                </a:solidFill>
                <a:latin typeface="Arial"/>
                <a:ea typeface="Arial"/>
                <a:cs typeface="Arial"/>
              </a:rPr>
              <a:t>Randomize within segments and measure incremental margin and experience.</a:t>
            </a:r>
          </a:p>
        </p:txBody>
      </p:sp>
      <p:sp>
        <p:nvSpPr>
          <p:cNvPr id="18" name="step-circle-5-3">
            <a:extLst xmlns:a="http://schemas.openxmlformats.org/drawingml/2006/main">
              <a:ext uri="{FF2B5EF4-FFF2-40B4-BE49-F238E27FC236}">
                <a16:creationId xmlns:a16="http://schemas.microsoft.com/office/drawing/2014/main" id="{2368DACB-C08A-4949-B8EF-4DFE484BA9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44125" y="2762250"/>
            <a:ext cx="476250" cy="476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3223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step-number-5-3">
            <a:extLst xmlns:a="http://schemas.openxmlformats.org/drawingml/2006/main">
              <a:ext uri="{FF2B5EF4-FFF2-40B4-BE49-F238E27FC236}">
                <a16:creationId xmlns:a16="http://schemas.microsoft.com/office/drawing/2014/main" id="{01AA12F3-89D3-439F-8132-F67892A2A6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77475" y="2857500"/>
            <a:ext cx="2095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20" name="step-title-5-3">
            <a:extLst xmlns:a="http://schemas.openxmlformats.org/drawingml/2006/main">
              <a:ext uri="{FF2B5EF4-FFF2-40B4-BE49-F238E27FC236}">
                <a16:creationId xmlns:a16="http://schemas.microsoft.com/office/drawing/2014/main" id="{9275639F-D814-4905-BB3E-6822255227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2125" y="3524250"/>
            <a:ext cx="2000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32238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32238"/>
                </a:solidFill>
                <a:latin typeface="Arial"/>
                <a:ea typeface="Arial"/>
                <a:cs typeface="Arial"/>
              </a:rPr>
              <a:t>Operationalize</a:t>
            </a:r>
          </a:p>
        </p:txBody>
      </p:sp>
      <p:sp>
        <p:nvSpPr>
          <p:cNvPr id="21" name="step-body-5-3">
            <a:extLst xmlns:a="http://schemas.openxmlformats.org/drawingml/2006/main">
              <a:ext uri="{FF2B5EF4-FFF2-40B4-BE49-F238E27FC236}">
                <a16:creationId xmlns:a16="http://schemas.microsoft.com/office/drawing/2014/main" id="{3E5F766E-79DD-4748-BEC0-50D8EF6811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4095750"/>
            <a:ext cx="213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52627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6273"/>
                </a:solidFill>
                <a:latin typeface="Arial"/>
                <a:ea typeface="Arial"/>
                <a:cs typeface="Arial"/>
              </a:rPr>
              <a:t>Refresh only after data, stability, profile, and governance review.</a:t>
            </a:r>
          </a:p>
        </p:txBody>
      </p:sp>
      <p:sp>
        <p:nvSpPr>
          <p:cNvPr id="22" name="closing-5">
            <a:extLst xmlns:a="http://schemas.openxmlformats.org/drawingml/2006/main">
              <a:ext uri="{FF2B5EF4-FFF2-40B4-BE49-F238E27FC236}">
                <a16:creationId xmlns:a16="http://schemas.microsoft.com/office/drawing/2014/main" id="{5F312688-FE4B-4F33-8188-85B236FFE3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5676900"/>
            <a:ext cx="9144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20639B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20639B"/>
                </a:solidFill>
                <a:latin typeface="Arial"/>
                <a:ea typeface="Arial"/>
                <a:cs typeface="Arial"/>
              </a:rPr>
              <a:t>Decision requested: approve a limited experiment-design phase, not automatic targeting.</a:t>
            </a:r>
          </a:p>
        </p:txBody>
      </p:sp>
    </p:spTree>
    <p:extLst>
      <p:ext uri="{BB962C8B-B14F-4D97-AF65-F5344CB8AC3E}">
        <p14:creationId xmlns:p14="http://schemas.microsoft.com/office/powerpoint/2010/main" val="37286441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2026-09-02T01:18:46.5750000Z</dcterms:created>
  <dcterms:modified xsi:type="dcterms:W3CDTF">2026-09-02T01:18:46.5750000Z</dcterms:modified>
</coreProperties>
</file>